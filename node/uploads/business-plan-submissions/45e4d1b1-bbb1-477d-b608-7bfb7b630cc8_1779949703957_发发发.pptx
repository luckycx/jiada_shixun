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</p:sldIdLst>
  <p:notesMasterIdLst>
    <p:notesMasterId r:id="rId5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notesMaster" Target="notesMasters/notesMaster1.xml"/><Relationship Id="rId55" Type="http://schemas.openxmlformats.org/officeDocument/2006/relationships/presProps" Target="presProps.xml"/><Relationship Id="rId56" Type="http://schemas.openxmlformats.org/officeDocument/2006/relationships/viewProps" Target="viewProps.xml"/><Relationship Id="rId57" Type="http://schemas.openxmlformats.org/officeDocument/2006/relationships/theme" Target="theme/theme1.xml"/><Relationship Id="rId5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3.png"/><Relationship Id="rId4" Type="http://schemas.openxmlformats.org/officeDocument/2006/relationships/image" Target="../media/image-1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image" Target="../media/image-11-3.png"/><Relationship Id="rId4" Type="http://schemas.openxmlformats.org/officeDocument/2006/relationships/image" Target="../media/image-11-4.sv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svg"/><Relationship Id="rId3" Type="http://schemas.openxmlformats.org/officeDocument/2006/relationships/image" Target="../media/image-12-3.png"/><Relationship Id="rId4" Type="http://schemas.openxmlformats.org/officeDocument/2006/relationships/image" Target="../media/image-12-4.sv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7" Type="http://schemas.openxmlformats.org/officeDocument/2006/relationships/hyperlink" Target="http://www.bilibili.com/video/BV1RNZPBmEfj" TargetMode="External"/><Relationship Id="rId1" Type="http://schemas.openxmlformats.org/officeDocument/2006/relationships/image" Target="../media/image-13-1.png"/><Relationship Id="rId2" Type="http://schemas.openxmlformats.org/officeDocument/2006/relationships/image" Target="../media/image-13-2.svg"/><Relationship Id="rId3" Type="http://schemas.openxmlformats.org/officeDocument/2006/relationships/image" Target="../media/image-13-3.png"/><Relationship Id="rId4" Type="http://schemas.openxmlformats.org/officeDocument/2006/relationships/image" Target="../media/image-13-4.svg"/><Relationship Id="rId5" Type="http://schemas.openxmlformats.org/officeDocument/2006/relationships/image" Target="../media/image-13-5.png"/><Relationship Id="rId6" Type="http://schemas.openxmlformats.org/officeDocument/2006/relationships/image" Target="../media/image-13-6.sv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svg"/><Relationship Id="rId3" Type="http://schemas.openxmlformats.org/officeDocument/2006/relationships/image" Target="../media/image-14-3.png"/><Relationship Id="rId4" Type="http://schemas.openxmlformats.org/officeDocument/2006/relationships/image" Target="../media/image-14-4.sv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hyperlink" Target="http://m.tangdou.com/play/20000012622962" TargetMode="External"/><Relationship Id="rId1" Type="http://schemas.openxmlformats.org/officeDocument/2006/relationships/image" Target="../media/image-15-1.png"/><Relationship Id="rId2" Type="http://schemas.openxmlformats.org/officeDocument/2006/relationships/image" Target="../media/image-15-2.svg"/><Relationship Id="rId3" Type="http://schemas.openxmlformats.org/officeDocument/2006/relationships/image" Target="../media/image-15-3.png"/><Relationship Id="rId4" Type="http://schemas.openxmlformats.org/officeDocument/2006/relationships/image" Target="../media/image-15-4.svg"/><Relationship Id="rId5" Type="http://schemas.openxmlformats.org/officeDocument/2006/relationships/image" Target="../media/image-15-5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svg"/><Relationship Id="rId3" Type="http://schemas.openxmlformats.org/officeDocument/2006/relationships/image" Target="../media/image-16-3.png"/><Relationship Id="rId4" Type="http://schemas.openxmlformats.org/officeDocument/2006/relationships/image" Target="../media/image-16-4.svg"/><Relationship Id="rId5" Type="http://schemas.openxmlformats.org/officeDocument/2006/relationships/image" Target="../media/image-1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svg"/><Relationship Id="rId3" Type="http://schemas.openxmlformats.org/officeDocument/2006/relationships/image" Target="../media/image-17-3.png"/><Relationship Id="rId4" Type="http://schemas.openxmlformats.org/officeDocument/2006/relationships/image" Target="../media/image-17-4.svg"/><Relationship Id="rId5" Type="http://schemas.openxmlformats.org/officeDocument/2006/relationships/image" Target="../media/image-1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svg"/><Relationship Id="rId3" Type="http://schemas.openxmlformats.org/officeDocument/2006/relationships/image" Target="../media/image-18-3.png"/><Relationship Id="rId4" Type="http://schemas.openxmlformats.org/officeDocument/2006/relationships/image" Target="../media/image-18-4.svg"/><Relationship Id="rId5" Type="http://schemas.openxmlformats.org/officeDocument/2006/relationships/image" Target="../media/image-18-5.png"/><Relationship Id="rId6" Type="http://schemas.openxmlformats.org/officeDocument/2006/relationships/image" Target="../media/image-18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svg"/><Relationship Id="rId3" Type="http://schemas.openxmlformats.org/officeDocument/2006/relationships/image" Target="../media/image-19-3.png"/><Relationship Id="rId4" Type="http://schemas.openxmlformats.org/officeDocument/2006/relationships/image" Target="../media/image-19-4.svg"/><Relationship Id="rId5" Type="http://schemas.openxmlformats.org/officeDocument/2006/relationships/image" Target="../media/image-1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svg"/><Relationship Id="rId4" Type="http://schemas.openxmlformats.org/officeDocument/2006/relationships/image" Target="../media/image-20-4.png"/><Relationship Id="rId5" Type="http://schemas.openxmlformats.org/officeDocument/2006/relationships/image" Target="../media/image-20-5.svg"/><Relationship Id="rId6" Type="http://schemas.openxmlformats.org/officeDocument/2006/relationships/image" Target="../media/image-20-6.png"/><Relationship Id="rId7" Type="http://schemas.openxmlformats.org/officeDocument/2006/relationships/image" Target="../media/image-20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svg"/><Relationship Id="rId3" Type="http://schemas.openxmlformats.org/officeDocument/2006/relationships/image" Target="../media/image-21-3.png"/><Relationship Id="rId4" Type="http://schemas.openxmlformats.org/officeDocument/2006/relationships/image" Target="../media/image-21-4.svg"/><Relationship Id="rId5" Type="http://schemas.openxmlformats.org/officeDocument/2006/relationships/image" Target="../media/image-2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svg"/><Relationship Id="rId3" Type="http://schemas.openxmlformats.org/officeDocument/2006/relationships/image" Target="../media/image-22-3.png"/><Relationship Id="rId4" Type="http://schemas.openxmlformats.org/officeDocument/2006/relationships/image" Target="../media/image-22-4.svg"/><Relationship Id="rId5" Type="http://schemas.openxmlformats.org/officeDocument/2006/relationships/image" Target="../media/image-22-5.png"/><Relationship Id="rId6" Type="http://schemas.openxmlformats.org/officeDocument/2006/relationships/image" Target="../media/image-2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svg"/><Relationship Id="rId3" Type="http://schemas.openxmlformats.org/officeDocument/2006/relationships/image" Target="../media/image-23-3.png"/><Relationship Id="rId4" Type="http://schemas.openxmlformats.org/officeDocument/2006/relationships/image" Target="../media/image-23-4.svg"/><Relationship Id="rId5" Type="http://schemas.openxmlformats.org/officeDocument/2006/relationships/image" Target="../media/image-23-5.png"/><Relationship Id="rId6" Type="http://schemas.openxmlformats.org/officeDocument/2006/relationships/image" Target="../media/image-2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svg"/><Relationship Id="rId3" Type="http://schemas.openxmlformats.org/officeDocument/2006/relationships/image" Target="../media/image-24-3.png"/><Relationship Id="rId4" Type="http://schemas.openxmlformats.org/officeDocument/2006/relationships/image" Target="../media/image-24-4.svg"/><Relationship Id="rId5" Type="http://schemas.openxmlformats.org/officeDocument/2006/relationships/image" Target="../media/image-24-5.png"/><Relationship Id="rId6" Type="http://schemas.openxmlformats.org/officeDocument/2006/relationships/image" Target="../media/image-2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svg"/><Relationship Id="rId3" Type="http://schemas.openxmlformats.org/officeDocument/2006/relationships/image" Target="../media/image-25-3.png"/><Relationship Id="rId4" Type="http://schemas.openxmlformats.org/officeDocument/2006/relationships/image" Target="../media/image-25-4.svg"/><Relationship Id="rId5" Type="http://schemas.openxmlformats.org/officeDocument/2006/relationships/image" Target="../media/image-25-5.png"/><Relationship Id="rId6" Type="http://schemas.openxmlformats.org/officeDocument/2006/relationships/image" Target="../media/image-25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svg"/><Relationship Id="rId3" Type="http://schemas.openxmlformats.org/officeDocument/2006/relationships/image" Target="../media/image-26-3.png"/><Relationship Id="rId4" Type="http://schemas.openxmlformats.org/officeDocument/2006/relationships/image" Target="../media/image-26-4.svg"/><Relationship Id="rId5" Type="http://schemas.openxmlformats.org/officeDocument/2006/relationships/image" Target="../media/image-26-5.png"/><Relationship Id="rId6" Type="http://schemas.openxmlformats.org/officeDocument/2006/relationships/image" Target="../media/image-2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svg"/><Relationship Id="rId3" Type="http://schemas.openxmlformats.org/officeDocument/2006/relationships/image" Target="../media/image-27-3.png"/><Relationship Id="rId4" Type="http://schemas.openxmlformats.org/officeDocument/2006/relationships/image" Target="../media/image-27-4.svg"/><Relationship Id="rId5" Type="http://schemas.openxmlformats.org/officeDocument/2006/relationships/image" Target="../media/image-27-5.png"/><Relationship Id="rId6" Type="http://schemas.openxmlformats.org/officeDocument/2006/relationships/image" Target="../media/image-2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svg"/><Relationship Id="rId3" Type="http://schemas.openxmlformats.org/officeDocument/2006/relationships/image" Target="../media/image-28-3.png"/><Relationship Id="rId4" Type="http://schemas.openxmlformats.org/officeDocument/2006/relationships/image" Target="../media/image-28-4.svg"/><Relationship Id="rId5" Type="http://schemas.openxmlformats.org/officeDocument/2006/relationships/image" Target="../media/image-28-5.png"/><Relationship Id="rId6" Type="http://schemas.openxmlformats.org/officeDocument/2006/relationships/image" Target="../media/image-2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svg"/><Relationship Id="rId3" Type="http://schemas.openxmlformats.org/officeDocument/2006/relationships/image" Target="../media/image-29-3.png"/><Relationship Id="rId4" Type="http://schemas.openxmlformats.org/officeDocument/2006/relationships/image" Target="../media/image-29-4.svg"/><Relationship Id="rId5" Type="http://schemas.openxmlformats.org/officeDocument/2006/relationships/image" Target="../media/image-29-5.png"/><Relationship Id="rId6" Type="http://schemas.openxmlformats.org/officeDocument/2006/relationships/image" Target="../media/image-2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svg"/><Relationship Id="rId3" Type="http://schemas.openxmlformats.org/officeDocument/2006/relationships/image" Target="../media/image-30-3.png"/><Relationship Id="rId4" Type="http://schemas.openxmlformats.org/officeDocument/2006/relationships/image" Target="../media/image-30-4.svg"/><Relationship Id="rId5" Type="http://schemas.openxmlformats.org/officeDocument/2006/relationships/image" Target="../media/image-30-5.png"/><Relationship Id="rId6" Type="http://schemas.openxmlformats.org/officeDocument/2006/relationships/image" Target="../media/image-3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svg"/><Relationship Id="rId3" Type="http://schemas.openxmlformats.org/officeDocument/2006/relationships/image" Target="../media/image-31-3.png"/><Relationship Id="rId4" Type="http://schemas.openxmlformats.org/officeDocument/2006/relationships/image" Target="../media/image-31-4.svg"/><Relationship Id="rId5" Type="http://schemas.openxmlformats.org/officeDocument/2006/relationships/image" Target="../media/image-31-5.png"/><Relationship Id="rId6" Type="http://schemas.openxmlformats.org/officeDocument/2006/relationships/image" Target="../media/image-3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svg"/><Relationship Id="rId3" Type="http://schemas.openxmlformats.org/officeDocument/2006/relationships/image" Target="../media/image-32-3.png"/><Relationship Id="rId4" Type="http://schemas.openxmlformats.org/officeDocument/2006/relationships/image" Target="../media/image-32-4.svg"/><Relationship Id="rId5" Type="http://schemas.openxmlformats.org/officeDocument/2006/relationships/image" Target="../media/image-32-5.png"/><Relationship Id="rId6" Type="http://schemas.openxmlformats.org/officeDocument/2006/relationships/image" Target="../media/image-3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svg"/><Relationship Id="rId3" Type="http://schemas.openxmlformats.org/officeDocument/2006/relationships/image" Target="../media/image-33-3.png"/><Relationship Id="rId4" Type="http://schemas.openxmlformats.org/officeDocument/2006/relationships/image" Target="../media/image-33-4.svg"/><Relationship Id="rId5" Type="http://schemas.openxmlformats.org/officeDocument/2006/relationships/image" Target="../media/image-33-5.png"/><Relationship Id="rId6" Type="http://schemas.openxmlformats.org/officeDocument/2006/relationships/image" Target="../media/image-33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svg"/><Relationship Id="rId3" Type="http://schemas.openxmlformats.org/officeDocument/2006/relationships/image" Target="../media/image-34-3.png"/><Relationship Id="rId4" Type="http://schemas.openxmlformats.org/officeDocument/2006/relationships/image" Target="../media/image-34-4.svg"/><Relationship Id="rId5" Type="http://schemas.openxmlformats.org/officeDocument/2006/relationships/image" Target="../media/image-3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svg"/><Relationship Id="rId3" Type="http://schemas.openxmlformats.org/officeDocument/2006/relationships/image" Target="../media/image-35-3.png"/><Relationship Id="rId4" Type="http://schemas.openxmlformats.org/officeDocument/2006/relationships/image" Target="../media/image-35-4.svg"/><Relationship Id="rId5" Type="http://schemas.openxmlformats.org/officeDocument/2006/relationships/image" Target="../media/image-3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svg"/><Relationship Id="rId3" Type="http://schemas.openxmlformats.org/officeDocument/2006/relationships/image" Target="../media/image-36-3.png"/><Relationship Id="rId4" Type="http://schemas.openxmlformats.org/officeDocument/2006/relationships/image" Target="../media/image-36-4.svg"/><Relationship Id="rId5" Type="http://schemas.openxmlformats.org/officeDocument/2006/relationships/image" Target="../media/image-36-5.png"/><Relationship Id="rId6" Type="http://schemas.openxmlformats.org/officeDocument/2006/relationships/image" Target="../media/image-3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2.svg"/><Relationship Id="rId3" Type="http://schemas.openxmlformats.org/officeDocument/2006/relationships/image" Target="../media/image-37-3.png"/><Relationship Id="rId4" Type="http://schemas.openxmlformats.org/officeDocument/2006/relationships/image" Target="../media/image-37-4.svg"/><Relationship Id="rId5" Type="http://schemas.openxmlformats.org/officeDocument/2006/relationships/image" Target="../media/image-37-5.png"/><Relationship Id="rId6" Type="http://schemas.openxmlformats.org/officeDocument/2006/relationships/image" Target="../media/image-3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image" Target="../media/image-38-2.svg"/><Relationship Id="rId3" Type="http://schemas.openxmlformats.org/officeDocument/2006/relationships/image" Target="../media/image-38-3.png"/><Relationship Id="rId4" Type="http://schemas.openxmlformats.org/officeDocument/2006/relationships/image" Target="../media/image-38-4.svg"/><Relationship Id="rId5" Type="http://schemas.openxmlformats.org/officeDocument/2006/relationships/image" Target="../media/image-38-5.png"/><Relationship Id="rId6" Type="http://schemas.openxmlformats.org/officeDocument/2006/relationships/image" Target="../media/image-38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image" Target="../media/image-39-2.svg"/><Relationship Id="rId3" Type="http://schemas.openxmlformats.org/officeDocument/2006/relationships/image" Target="../media/image-39-3.png"/><Relationship Id="rId4" Type="http://schemas.openxmlformats.org/officeDocument/2006/relationships/image" Target="../media/image-39-4.svg"/><Relationship Id="rId5" Type="http://schemas.openxmlformats.org/officeDocument/2006/relationships/image" Target="../media/image-3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image" Target="../media/image-40-2.svg"/><Relationship Id="rId3" Type="http://schemas.openxmlformats.org/officeDocument/2006/relationships/image" Target="../media/image-40-3.png"/><Relationship Id="rId4" Type="http://schemas.openxmlformats.org/officeDocument/2006/relationships/image" Target="../media/image-40-4.svg"/><Relationship Id="rId5" Type="http://schemas.openxmlformats.org/officeDocument/2006/relationships/image" Target="../media/image-4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image" Target="../media/image-41-2.svg"/><Relationship Id="rId3" Type="http://schemas.openxmlformats.org/officeDocument/2006/relationships/image" Target="../media/image-41-3.png"/><Relationship Id="rId4" Type="http://schemas.openxmlformats.org/officeDocument/2006/relationships/image" Target="../media/image-41-4.svg"/><Relationship Id="rId5" Type="http://schemas.openxmlformats.org/officeDocument/2006/relationships/image" Target="../media/image-4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image" Target="../media/image-42-2.svg"/><Relationship Id="rId3" Type="http://schemas.openxmlformats.org/officeDocument/2006/relationships/image" Target="../media/image-42-3.png"/><Relationship Id="rId4" Type="http://schemas.openxmlformats.org/officeDocument/2006/relationships/image" Target="../media/image-42-4.svg"/><Relationship Id="rId5" Type="http://schemas.openxmlformats.org/officeDocument/2006/relationships/image" Target="../media/image-42-5.png"/><Relationship Id="rId6" Type="http://schemas.openxmlformats.org/officeDocument/2006/relationships/image" Target="../media/image-42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image" Target="../media/image-43-2.svg"/><Relationship Id="rId3" Type="http://schemas.openxmlformats.org/officeDocument/2006/relationships/image" Target="../media/image-43-3.png"/><Relationship Id="rId4" Type="http://schemas.openxmlformats.org/officeDocument/2006/relationships/image" Target="../media/image-43-4.svg"/><Relationship Id="rId5" Type="http://schemas.openxmlformats.org/officeDocument/2006/relationships/image" Target="../media/image-43-5.png"/><Relationship Id="rId6" Type="http://schemas.openxmlformats.org/officeDocument/2006/relationships/image" Target="../media/image-4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image" Target="../media/image-44-2.svg"/><Relationship Id="rId3" Type="http://schemas.openxmlformats.org/officeDocument/2006/relationships/image" Target="../media/image-44-3.png"/><Relationship Id="rId4" Type="http://schemas.openxmlformats.org/officeDocument/2006/relationships/image" Target="../media/image-44-4.svg"/><Relationship Id="rId5" Type="http://schemas.openxmlformats.org/officeDocument/2006/relationships/image" Target="../media/image-44-5.png"/><Relationship Id="rId6" Type="http://schemas.openxmlformats.org/officeDocument/2006/relationships/image" Target="../media/image-4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image" Target="../media/image-45-2.svg"/><Relationship Id="rId3" Type="http://schemas.openxmlformats.org/officeDocument/2006/relationships/image" Target="../media/image-45-3.png"/><Relationship Id="rId4" Type="http://schemas.openxmlformats.org/officeDocument/2006/relationships/image" Target="../media/image-45-4.svg"/><Relationship Id="rId5" Type="http://schemas.openxmlformats.org/officeDocument/2006/relationships/image" Target="../media/image-45-5.png"/><Relationship Id="rId6" Type="http://schemas.openxmlformats.org/officeDocument/2006/relationships/image" Target="../media/image-4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image" Target="../media/image-46-2.svg"/><Relationship Id="rId3" Type="http://schemas.openxmlformats.org/officeDocument/2006/relationships/image" Target="../media/image-46-3.png"/><Relationship Id="rId4" Type="http://schemas.openxmlformats.org/officeDocument/2006/relationships/image" Target="../media/image-46-4.svg"/><Relationship Id="rId5" Type="http://schemas.openxmlformats.org/officeDocument/2006/relationships/image" Target="../media/image-46-5.png"/><Relationship Id="rId6" Type="http://schemas.openxmlformats.org/officeDocument/2006/relationships/image" Target="../media/image-4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image" Target="../media/image-47-2.svg"/><Relationship Id="rId3" Type="http://schemas.openxmlformats.org/officeDocument/2006/relationships/image" Target="../media/image-47-3.png"/><Relationship Id="rId4" Type="http://schemas.openxmlformats.org/officeDocument/2006/relationships/image" Target="../media/image-47-4.svg"/><Relationship Id="rId5" Type="http://schemas.openxmlformats.org/officeDocument/2006/relationships/image" Target="../media/image-47-5.png"/><Relationship Id="rId6" Type="http://schemas.openxmlformats.org/officeDocument/2006/relationships/image" Target="../media/image-4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image" Target="../media/image-48-2.svg"/><Relationship Id="rId3" Type="http://schemas.openxmlformats.org/officeDocument/2006/relationships/image" Target="../media/image-48-3.png"/><Relationship Id="rId4" Type="http://schemas.openxmlformats.org/officeDocument/2006/relationships/image" Target="../media/image-48-4.svg"/><Relationship Id="rId5" Type="http://schemas.openxmlformats.org/officeDocument/2006/relationships/image" Target="../media/image-48-5.png"/><Relationship Id="rId6" Type="http://schemas.openxmlformats.org/officeDocument/2006/relationships/image" Target="../media/image-48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image" Target="../media/image-49-2.svg"/><Relationship Id="rId3" Type="http://schemas.openxmlformats.org/officeDocument/2006/relationships/image" Target="../media/image-49-3.png"/><Relationship Id="rId4" Type="http://schemas.openxmlformats.org/officeDocument/2006/relationships/image" Target="../media/image-49-4.svg"/><Relationship Id="rId5" Type="http://schemas.openxmlformats.org/officeDocument/2006/relationships/image" Target="../media/image-4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image" Target="../media/image-50-2.svg"/><Relationship Id="rId3" Type="http://schemas.openxmlformats.org/officeDocument/2006/relationships/image" Target="../media/image-50-3.png"/><Relationship Id="rId4" Type="http://schemas.openxmlformats.org/officeDocument/2006/relationships/image" Target="../media/image-50-4.svg"/><Relationship Id="rId5" Type="http://schemas.openxmlformats.org/officeDocument/2006/relationships/image" Target="../media/image-5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image" Target="../media/image-51-2.svg"/><Relationship Id="rId3" Type="http://schemas.openxmlformats.org/officeDocument/2006/relationships/image" Target="../media/image-51-3.png"/><Relationship Id="rId4" Type="http://schemas.openxmlformats.org/officeDocument/2006/relationships/image" Target="../media/image-51-4.svg"/><Relationship Id="rId5" Type="http://schemas.openxmlformats.org/officeDocument/2006/relationships/image" Target="../media/image-5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image" Target="../media/image-52-2.svg"/><Relationship Id="rId3" Type="http://schemas.openxmlformats.org/officeDocument/2006/relationships/image" Target="../media/image-52-3.png"/><Relationship Id="rId4" Type="http://schemas.openxmlformats.org/officeDocument/2006/relationships/image" Target="../media/image-52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-12893"/>
            <a:ext cx="9157807" cy="516919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-12893"/>
            <a:ext cx="9157807" cy="51691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44057" y="-12893"/>
            <a:ext cx="3213293" cy="507684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944057" y="-12893"/>
            <a:ext cx="3213293" cy="5076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sp>
        <p:nvSpPr>
          <p:cNvPr id="6" name="Text 2"/>
          <p:cNvSpPr/>
          <p:nvPr/>
        </p:nvSpPr>
        <p:spPr>
          <a:xfrm>
            <a:off x="293340" y="1908810"/>
            <a:ext cx="5835669" cy="64922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75"/>
              </a:spcBef>
              <a:buNone/>
            </a:pPr>
            <a:r>
              <a:rPr lang="en-US" sz="3825" dirty="0">
                <a:solidFill>
                  <a:srgbClr val="FFFFFF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发发发</a:t>
            </a:r>
            <a:endParaRPr lang="en-US" sz="2250" dirty="0"/>
          </a:p>
        </p:txBody>
      </p:sp>
      <p:sp>
        <p:nvSpPr>
          <p:cNvPr id="7" name="Shape 3"/>
          <p:cNvSpPr/>
          <p:nvPr/>
        </p:nvSpPr>
        <p:spPr>
          <a:xfrm>
            <a:off x="374355" y="1273942"/>
            <a:ext cx="456286" cy="456286"/>
          </a:xfrm>
          <a:custGeom>
            <a:avLst/>
            <a:gdLst/>
            <a:ahLst/>
            <a:cxnLst/>
            <a:rect l="l" t="t" r="r" b="b"/>
            <a:pathLst>
              <a:path w="456286" h="456286">
                <a:moveTo>
                  <a:pt x="228143" y="0"/>
                </a:moveTo>
                <a:cubicBezTo>
                  <a:pt x="354058" y="0"/>
                  <a:pt x="456286" y="102227"/>
                  <a:pt x="456286" y="228143"/>
                </a:cubicBezTo>
                <a:cubicBezTo>
                  <a:pt x="456286" y="354058"/>
                  <a:pt x="354058" y="456286"/>
                  <a:pt x="228143" y="456286"/>
                </a:cubicBezTo>
                <a:cubicBezTo>
                  <a:pt x="102227" y="456286"/>
                  <a:pt x="0" y="354058"/>
                  <a:pt x="0" y="228143"/>
                </a:cubicBezTo>
                <a:cubicBezTo>
                  <a:pt x="0" y="102227"/>
                  <a:pt x="102227" y="0"/>
                  <a:pt x="228143" y="0"/>
                </a:cubicBezTo>
                <a:close/>
              </a:path>
            </a:pathLst>
          </a:custGeom>
          <a:solidFill>
            <a:srgbClr val="F1CB8F"/>
          </a:solidFill>
          <a:ln/>
        </p:spPr>
      </p:sp>
      <p:sp>
        <p:nvSpPr>
          <p:cNvPr id="8" name="Text 4"/>
          <p:cNvSpPr/>
          <p:nvPr/>
        </p:nvSpPr>
        <p:spPr>
          <a:xfrm>
            <a:off x="374355" y="1273942"/>
            <a:ext cx="456286" cy="4562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sp>
        <p:nvSpPr>
          <p:cNvPr id="9" name="Shape 5"/>
          <p:cNvSpPr/>
          <p:nvPr/>
        </p:nvSpPr>
        <p:spPr>
          <a:xfrm>
            <a:off x="716250" y="1273942"/>
            <a:ext cx="456286" cy="456286"/>
          </a:xfrm>
          <a:custGeom>
            <a:avLst/>
            <a:gdLst/>
            <a:ahLst/>
            <a:cxnLst/>
            <a:rect l="l" t="t" r="r" b="b"/>
            <a:pathLst>
              <a:path w="456286" h="456286">
                <a:moveTo>
                  <a:pt x="228143" y="0"/>
                </a:moveTo>
                <a:cubicBezTo>
                  <a:pt x="354058" y="0"/>
                  <a:pt x="456286" y="102227"/>
                  <a:pt x="456286" y="228143"/>
                </a:cubicBezTo>
                <a:cubicBezTo>
                  <a:pt x="456286" y="354058"/>
                  <a:pt x="354058" y="456286"/>
                  <a:pt x="228143" y="456286"/>
                </a:cubicBezTo>
                <a:cubicBezTo>
                  <a:pt x="102227" y="456286"/>
                  <a:pt x="0" y="354058"/>
                  <a:pt x="0" y="228143"/>
                </a:cubicBezTo>
                <a:cubicBezTo>
                  <a:pt x="0" y="102227"/>
                  <a:pt x="102227" y="0"/>
                  <a:pt x="228143" y="0"/>
                </a:cubicBezTo>
                <a:close/>
              </a:path>
            </a:pathLst>
          </a:custGeom>
          <a:solidFill>
            <a:srgbClr val="F2F2F2"/>
          </a:solidFill>
          <a:ln/>
        </p:spPr>
      </p:sp>
      <p:sp>
        <p:nvSpPr>
          <p:cNvPr id="10" name="Text 6"/>
          <p:cNvSpPr/>
          <p:nvPr/>
        </p:nvSpPr>
        <p:spPr>
          <a:xfrm>
            <a:off x="716250" y="1273942"/>
            <a:ext cx="456286" cy="4562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sp>
        <p:nvSpPr>
          <p:cNvPr id="11" name="Shape 7"/>
          <p:cNvSpPr/>
          <p:nvPr/>
        </p:nvSpPr>
        <p:spPr>
          <a:xfrm>
            <a:off x="374355" y="3648547"/>
            <a:ext cx="1449002" cy="337978"/>
          </a:xfrm>
          <a:custGeom>
            <a:avLst/>
            <a:gdLst/>
            <a:ahLst/>
            <a:cxnLst/>
            <a:rect l="l" t="t" r="r" b="b"/>
            <a:pathLst>
              <a:path w="1449002" h="337978">
                <a:moveTo>
                  <a:pt x="42247" y="0"/>
                </a:moveTo>
                <a:lnTo>
                  <a:pt x="1406754" y="0"/>
                </a:lnTo>
                <a:quadBezTo>
                  <a:pt x="1449002" y="0"/>
                  <a:pt x="1449002" y="42247"/>
                </a:quadBezTo>
                <a:lnTo>
                  <a:pt x="1449002" y="295731"/>
                </a:lnTo>
                <a:quadBezTo>
                  <a:pt x="1449002" y="337978"/>
                  <a:pt x="1406754" y="337978"/>
                </a:quadBezTo>
                <a:lnTo>
                  <a:pt x="42247" y="337978"/>
                </a:lnTo>
                <a:quadBezTo>
                  <a:pt x="0" y="337978"/>
                  <a:pt x="0" y="295731"/>
                </a:quadBezTo>
                <a:lnTo>
                  <a:pt x="0" y="42247"/>
                </a:lnTo>
                <a:quadBezTo>
                  <a:pt x="0" y="0"/>
                  <a:pt x="42247" y="0"/>
                </a:quadBezTo>
                <a:close/>
              </a:path>
            </a:pathLst>
          </a:custGeom>
          <a:solidFill>
            <a:srgbClr val="F1CB8F"/>
          </a:solidFill>
          <a:ln/>
        </p:spPr>
      </p:sp>
      <p:sp>
        <p:nvSpPr>
          <p:cNvPr id="12" name="Text 8"/>
          <p:cNvSpPr/>
          <p:nvPr/>
        </p:nvSpPr>
        <p:spPr>
          <a:xfrm>
            <a:off x="374355" y="3648547"/>
            <a:ext cx="1449002" cy="3379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sp>
        <p:nvSpPr>
          <p:cNvPr id="13" name="Text 9"/>
          <p:cNvSpPr/>
          <p:nvPr/>
        </p:nvSpPr>
        <p:spPr>
          <a:xfrm>
            <a:off x="445770" y="3547872"/>
            <a:ext cx="1444752" cy="4572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algn="ctr" indent="0" marL="0">
              <a:lnSpc>
                <a:spcPct val="80000"/>
              </a:lnSpc>
              <a:spcBef>
                <a:spcPts val="375"/>
              </a:spcBef>
              <a:buNone/>
            </a:pPr>
            <a:r>
              <a:rPr lang="en-US" sz="1050" dirty="0">
                <a:solidFill>
                  <a:srgbClr val="427092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汇报人： XXX</a:t>
            </a:r>
            <a:endParaRPr lang="en-US" sz="2250" dirty="0"/>
          </a:p>
        </p:txBody>
      </p:sp>
      <p:sp>
        <p:nvSpPr>
          <p:cNvPr id="14" name="Shape 10"/>
          <p:cNvSpPr/>
          <p:nvPr/>
        </p:nvSpPr>
        <p:spPr>
          <a:xfrm>
            <a:off x="2268513" y="3648547"/>
            <a:ext cx="1655666" cy="337978"/>
          </a:xfrm>
          <a:custGeom>
            <a:avLst/>
            <a:gdLst/>
            <a:ahLst/>
            <a:cxnLst/>
            <a:rect l="l" t="t" r="r" b="b"/>
            <a:pathLst>
              <a:path w="1655666" h="337978">
                <a:moveTo>
                  <a:pt x="42247" y="0"/>
                </a:moveTo>
                <a:lnTo>
                  <a:pt x="1613419" y="0"/>
                </a:lnTo>
                <a:quadBezTo>
                  <a:pt x="1655666" y="0"/>
                  <a:pt x="1655666" y="42247"/>
                </a:quadBezTo>
                <a:lnTo>
                  <a:pt x="1655666" y="295731"/>
                </a:lnTo>
                <a:quadBezTo>
                  <a:pt x="1655666" y="337978"/>
                  <a:pt x="1613419" y="337978"/>
                </a:quadBezTo>
                <a:lnTo>
                  <a:pt x="42247" y="337978"/>
                </a:lnTo>
                <a:quadBezTo>
                  <a:pt x="0" y="337978"/>
                  <a:pt x="0" y="295731"/>
                </a:quadBezTo>
                <a:lnTo>
                  <a:pt x="0" y="42247"/>
                </a:lnTo>
                <a:quadBezTo>
                  <a:pt x="0" y="0"/>
                  <a:pt x="42247" y="0"/>
                </a:quadBezTo>
                <a:close/>
              </a:path>
            </a:pathLst>
          </a:custGeom>
          <a:solidFill>
            <a:srgbClr val="F1CB8F"/>
          </a:solidFill>
          <a:ln/>
        </p:spPr>
      </p:sp>
      <p:sp>
        <p:nvSpPr>
          <p:cNvPr id="15" name="Text 11"/>
          <p:cNvSpPr/>
          <p:nvPr/>
        </p:nvSpPr>
        <p:spPr>
          <a:xfrm>
            <a:off x="2268513" y="3648547"/>
            <a:ext cx="1655666" cy="3379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sp>
        <p:nvSpPr>
          <p:cNvPr id="16" name="Text 12"/>
          <p:cNvSpPr/>
          <p:nvPr/>
        </p:nvSpPr>
        <p:spPr>
          <a:xfrm>
            <a:off x="2268513" y="3547872"/>
            <a:ext cx="1655666" cy="4572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75"/>
              </a:spcBef>
              <a:buNone/>
            </a:pPr>
            <a:r>
              <a:rPr lang="en-US" sz="1050" dirty="0">
                <a:solidFill>
                  <a:srgbClr val="427092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汇报时间：2026-05-28</a:t>
            </a:r>
            <a:endParaRPr lang="en-US" sz="2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AA2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-12893"/>
            <a:ext cx="9157807" cy="516919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-12893"/>
            <a:ext cx="9157807" cy="51691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sp>
        <p:nvSpPr>
          <p:cNvPr id="4" name="Text 1"/>
          <p:cNvSpPr/>
          <p:nvPr/>
        </p:nvSpPr>
        <p:spPr>
          <a:xfrm>
            <a:off x="7381403" y="696316"/>
            <a:ext cx="1831243" cy="64922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75"/>
              </a:spcBef>
              <a:buNone/>
            </a:pPr>
            <a:r>
              <a:rPr lang="en-US" sz="3825" dirty="0">
                <a:solidFill>
                  <a:srgbClr val="427092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目录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7395667" y="1387785"/>
            <a:ext cx="1493266" cy="4572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75"/>
              </a:spcBef>
              <a:buNone/>
            </a:pPr>
            <a:r>
              <a:rPr lang="en-US" sz="1200" dirty="0">
                <a:solidFill>
                  <a:srgbClr val="427092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CONTENTS</a:t>
            </a:r>
            <a:endParaRPr lang="en-US" sz="2250" dirty="0"/>
          </a:p>
        </p:txBody>
      </p:sp>
      <p:sp>
        <p:nvSpPr>
          <p:cNvPr id="6" name="Shape 3"/>
          <p:cNvSpPr/>
          <p:nvPr/>
        </p:nvSpPr>
        <p:spPr>
          <a:xfrm>
            <a:off x="328175" y="762651"/>
            <a:ext cx="456743" cy="456743"/>
          </a:xfrm>
          <a:custGeom>
            <a:avLst/>
            <a:gdLst/>
            <a:ahLst/>
            <a:cxnLst/>
            <a:rect l="l" t="t" r="r" b="b"/>
            <a:pathLst>
              <a:path w="456743" h="456743">
                <a:moveTo>
                  <a:pt x="228371" y="0"/>
                </a:moveTo>
                <a:cubicBezTo>
                  <a:pt x="354413" y="0"/>
                  <a:pt x="456743" y="102330"/>
                  <a:pt x="456743" y="228371"/>
                </a:cubicBezTo>
                <a:cubicBezTo>
                  <a:pt x="456743" y="354413"/>
                  <a:pt x="354413" y="456743"/>
                  <a:pt x="228371" y="456743"/>
                </a:cubicBezTo>
                <a:cubicBezTo>
                  <a:pt x="102330" y="456743"/>
                  <a:pt x="0" y="354413"/>
                  <a:pt x="0" y="228371"/>
                </a:cubicBezTo>
                <a:cubicBezTo>
                  <a:pt x="0" y="102330"/>
                  <a:pt x="102330" y="0"/>
                  <a:pt x="228371" y="0"/>
                </a:cubicBezTo>
                <a:close/>
              </a:path>
            </a:pathLst>
          </a:custGeom>
          <a:solidFill>
            <a:srgbClr val="F1CB8F"/>
          </a:solidFill>
          <a:ln/>
        </p:spPr>
      </p:sp>
      <p:sp>
        <p:nvSpPr>
          <p:cNvPr id="7" name="Text 4"/>
          <p:cNvSpPr/>
          <p:nvPr/>
        </p:nvSpPr>
        <p:spPr>
          <a:xfrm>
            <a:off x="328175" y="762651"/>
            <a:ext cx="456743" cy="4567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sp>
        <p:nvSpPr>
          <p:cNvPr id="8" name="Text 5"/>
          <p:cNvSpPr/>
          <p:nvPr/>
        </p:nvSpPr>
        <p:spPr>
          <a:xfrm>
            <a:off x="364489" y="758952"/>
            <a:ext cx="456743" cy="4572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75"/>
              </a:spcBef>
              <a:buNone/>
            </a:pPr>
            <a:r>
              <a:rPr lang="en-US" sz="1500" dirty="0">
                <a:solidFill>
                  <a:srgbClr val="427092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01</a:t>
            </a:r>
            <a:endParaRPr lang="en-US" sz="2250" dirty="0"/>
          </a:p>
        </p:txBody>
      </p:sp>
      <p:sp>
        <p:nvSpPr>
          <p:cNvPr id="9" name="Text 6"/>
          <p:cNvSpPr/>
          <p:nvPr/>
        </p:nvSpPr>
        <p:spPr>
          <a:xfrm>
            <a:off x="949876" y="758952"/>
            <a:ext cx="1941013" cy="4572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75"/>
              </a:spcBef>
              <a:buNone/>
            </a:pPr>
            <a:r>
              <a:rPr lang="en-US" sz="1800" dirty="0">
                <a:solidFill>
                  <a:srgbClr val="FFFFFF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课程说明</a:t>
            </a:r>
            <a:endParaRPr lang="en-US" sz="2250" dirty="0"/>
          </a:p>
        </p:txBody>
      </p:sp>
      <p:sp>
        <p:nvSpPr>
          <p:cNvPr id="10" name="Shape 7"/>
          <p:cNvSpPr/>
          <p:nvPr/>
        </p:nvSpPr>
        <p:spPr>
          <a:xfrm>
            <a:off x="2890888" y="762651"/>
            <a:ext cx="456743" cy="456743"/>
          </a:xfrm>
          <a:custGeom>
            <a:avLst/>
            <a:gdLst/>
            <a:ahLst/>
            <a:cxnLst/>
            <a:rect l="l" t="t" r="r" b="b"/>
            <a:pathLst>
              <a:path w="456743" h="456743">
                <a:moveTo>
                  <a:pt x="228371" y="0"/>
                </a:moveTo>
                <a:cubicBezTo>
                  <a:pt x="354413" y="0"/>
                  <a:pt x="456743" y="102330"/>
                  <a:pt x="456743" y="228371"/>
                </a:cubicBezTo>
                <a:cubicBezTo>
                  <a:pt x="456743" y="354413"/>
                  <a:pt x="354413" y="456743"/>
                  <a:pt x="228371" y="456743"/>
                </a:cubicBezTo>
                <a:cubicBezTo>
                  <a:pt x="102330" y="456743"/>
                  <a:pt x="0" y="354413"/>
                  <a:pt x="0" y="228371"/>
                </a:cubicBezTo>
                <a:cubicBezTo>
                  <a:pt x="0" y="102330"/>
                  <a:pt x="102330" y="0"/>
                  <a:pt x="228371" y="0"/>
                </a:cubicBezTo>
                <a:close/>
              </a:path>
            </a:pathLst>
          </a:custGeom>
          <a:solidFill>
            <a:srgbClr val="F1CB8F"/>
          </a:solidFill>
          <a:ln/>
        </p:spPr>
      </p:sp>
      <p:sp>
        <p:nvSpPr>
          <p:cNvPr id="11" name="Text 8"/>
          <p:cNvSpPr/>
          <p:nvPr/>
        </p:nvSpPr>
        <p:spPr>
          <a:xfrm>
            <a:off x="2890888" y="762651"/>
            <a:ext cx="456743" cy="4567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sp>
        <p:nvSpPr>
          <p:cNvPr id="12" name="Text 9"/>
          <p:cNvSpPr/>
          <p:nvPr/>
        </p:nvSpPr>
        <p:spPr>
          <a:xfrm>
            <a:off x="2927202" y="758952"/>
            <a:ext cx="456743" cy="4572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75"/>
              </a:spcBef>
              <a:buNone/>
            </a:pPr>
            <a:r>
              <a:rPr lang="en-US" sz="1500" dirty="0">
                <a:solidFill>
                  <a:srgbClr val="427092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02</a:t>
            </a:r>
            <a:endParaRPr lang="en-US" sz="2250" dirty="0"/>
          </a:p>
        </p:txBody>
      </p:sp>
      <p:sp>
        <p:nvSpPr>
          <p:cNvPr id="13" name="Text 10"/>
          <p:cNvSpPr/>
          <p:nvPr/>
        </p:nvSpPr>
        <p:spPr>
          <a:xfrm>
            <a:off x="3512589" y="758952"/>
            <a:ext cx="2024327" cy="4572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75"/>
              </a:spcBef>
              <a:buNone/>
            </a:pPr>
            <a:r>
              <a:rPr lang="en-US" sz="1800" dirty="0">
                <a:solidFill>
                  <a:srgbClr val="FFFFFF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核心定义</a:t>
            </a:r>
            <a:endParaRPr lang="en-US" sz="2250" dirty="0"/>
          </a:p>
        </p:txBody>
      </p:sp>
      <p:sp>
        <p:nvSpPr>
          <p:cNvPr id="14" name="Shape 11"/>
          <p:cNvSpPr/>
          <p:nvPr/>
        </p:nvSpPr>
        <p:spPr>
          <a:xfrm>
            <a:off x="328175" y="1452840"/>
            <a:ext cx="456743" cy="456743"/>
          </a:xfrm>
          <a:custGeom>
            <a:avLst/>
            <a:gdLst/>
            <a:ahLst/>
            <a:cxnLst/>
            <a:rect l="l" t="t" r="r" b="b"/>
            <a:pathLst>
              <a:path w="456743" h="456743">
                <a:moveTo>
                  <a:pt x="228371" y="0"/>
                </a:moveTo>
                <a:cubicBezTo>
                  <a:pt x="354413" y="0"/>
                  <a:pt x="456743" y="102330"/>
                  <a:pt x="456743" y="228371"/>
                </a:cubicBezTo>
                <a:cubicBezTo>
                  <a:pt x="456743" y="354413"/>
                  <a:pt x="354413" y="456743"/>
                  <a:pt x="228371" y="456743"/>
                </a:cubicBezTo>
                <a:cubicBezTo>
                  <a:pt x="102330" y="456743"/>
                  <a:pt x="0" y="354413"/>
                  <a:pt x="0" y="228371"/>
                </a:cubicBezTo>
                <a:cubicBezTo>
                  <a:pt x="0" y="102330"/>
                  <a:pt x="102330" y="0"/>
                  <a:pt x="228371" y="0"/>
                </a:cubicBezTo>
                <a:close/>
              </a:path>
            </a:pathLst>
          </a:custGeom>
          <a:solidFill>
            <a:srgbClr val="F1CB8F"/>
          </a:solidFill>
          <a:ln/>
        </p:spPr>
      </p:sp>
      <p:sp>
        <p:nvSpPr>
          <p:cNvPr id="15" name="Text 12"/>
          <p:cNvSpPr/>
          <p:nvPr/>
        </p:nvSpPr>
        <p:spPr>
          <a:xfrm>
            <a:off x="328175" y="1452840"/>
            <a:ext cx="456743" cy="4567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sp>
        <p:nvSpPr>
          <p:cNvPr id="16" name="Text 13"/>
          <p:cNvSpPr/>
          <p:nvPr/>
        </p:nvSpPr>
        <p:spPr>
          <a:xfrm>
            <a:off x="355607" y="1444752"/>
            <a:ext cx="456743" cy="4572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75"/>
              </a:spcBef>
              <a:buNone/>
            </a:pPr>
            <a:r>
              <a:rPr lang="en-US" sz="1500" dirty="0">
                <a:solidFill>
                  <a:srgbClr val="427092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03</a:t>
            </a:r>
            <a:endParaRPr lang="en-US" sz="2250" dirty="0"/>
          </a:p>
        </p:txBody>
      </p:sp>
      <p:sp>
        <p:nvSpPr>
          <p:cNvPr id="17" name="Text 14"/>
          <p:cNvSpPr/>
          <p:nvPr/>
        </p:nvSpPr>
        <p:spPr>
          <a:xfrm>
            <a:off x="949876" y="1444752"/>
            <a:ext cx="1941013" cy="4572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75"/>
              </a:spcBef>
              <a:buNone/>
            </a:pPr>
            <a:r>
              <a:rPr lang="en-US" sz="1800" dirty="0">
                <a:solidFill>
                  <a:srgbClr val="FFFFFF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基本性质</a:t>
            </a:r>
            <a:endParaRPr lang="en-US" sz="2250" dirty="0"/>
          </a:p>
        </p:txBody>
      </p:sp>
      <p:sp>
        <p:nvSpPr>
          <p:cNvPr id="18" name="Shape 15"/>
          <p:cNvSpPr/>
          <p:nvPr/>
        </p:nvSpPr>
        <p:spPr>
          <a:xfrm>
            <a:off x="2890888" y="1452840"/>
            <a:ext cx="456743" cy="456743"/>
          </a:xfrm>
          <a:custGeom>
            <a:avLst/>
            <a:gdLst/>
            <a:ahLst/>
            <a:cxnLst/>
            <a:rect l="l" t="t" r="r" b="b"/>
            <a:pathLst>
              <a:path w="456743" h="456743">
                <a:moveTo>
                  <a:pt x="228371" y="0"/>
                </a:moveTo>
                <a:cubicBezTo>
                  <a:pt x="354413" y="0"/>
                  <a:pt x="456743" y="102330"/>
                  <a:pt x="456743" y="228371"/>
                </a:cubicBezTo>
                <a:cubicBezTo>
                  <a:pt x="456743" y="354413"/>
                  <a:pt x="354413" y="456743"/>
                  <a:pt x="228371" y="456743"/>
                </a:cubicBezTo>
                <a:cubicBezTo>
                  <a:pt x="102330" y="456743"/>
                  <a:pt x="0" y="354413"/>
                  <a:pt x="0" y="228371"/>
                </a:cubicBezTo>
                <a:cubicBezTo>
                  <a:pt x="0" y="102330"/>
                  <a:pt x="102330" y="0"/>
                  <a:pt x="228371" y="0"/>
                </a:cubicBezTo>
                <a:close/>
              </a:path>
            </a:pathLst>
          </a:custGeom>
          <a:solidFill>
            <a:srgbClr val="F1CB8F"/>
          </a:solidFill>
          <a:ln/>
        </p:spPr>
      </p:sp>
      <p:sp>
        <p:nvSpPr>
          <p:cNvPr id="19" name="Text 16"/>
          <p:cNvSpPr/>
          <p:nvPr/>
        </p:nvSpPr>
        <p:spPr>
          <a:xfrm>
            <a:off x="2890888" y="1452840"/>
            <a:ext cx="456743" cy="4567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sp>
        <p:nvSpPr>
          <p:cNvPr id="20" name="Text 17"/>
          <p:cNvSpPr/>
          <p:nvPr/>
        </p:nvSpPr>
        <p:spPr>
          <a:xfrm>
            <a:off x="2918320" y="1444752"/>
            <a:ext cx="456743" cy="4572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75"/>
              </a:spcBef>
              <a:buNone/>
            </a:pPr>
            <a:r>
              <a:rPr lang="en-US" sz="1500" dirty="0">
                <a:solidFill>
                  <a:srgbClr val="427092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04</a:t>
            </a:r>
            <a:endParaRPr lang="en-US" sz="2250" dirty="0"/>
          </a:p>
        </p:txBody>
      </p:sp>
      <p:sp>
        <p:nvSpPr>
          <p:cNvPr id="21" name="Text 18"/>
          <p:cNvSpPr/>
          <p:nvPr/>
        </p:nvSpPr>
        <p:spPr>
          <a:xfrm>
            <a:off x="3512589" y="1444752"/>
            <a:ext cx="2024327" cy="4572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75"/>
              </a:spcBef>
              <a:buNone/>
            </a:pPr>
            <a:r>
              <a:rPr lang="en-US" sz="1800" dirty="0">
                <a:solidFill>
                  <a:srgbClr val="FFFFFF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推导规则</a:t>
            </a:r>
            <a:endParaRPr lang="en-US" sz="2250" dirty="0"/>
          </a:p>
        </p:txBody>
      </p:sp>
      <p:sp>
        <p:nvSpPr>
          <p:cNvPr id="22" name="Shape 19"/>
          <p:cNvSpPr/>
          <p:nvPr/>
        </p:nvSpPr>
        <p:spPr>
          <a:xfrm>
            <a:off x="341983" y="2133885"/>
            <a:ext cx="456743" cy="456743"/>
          </a:xfrm>
          <a:custGeom>
            <a:avLst/>
            <a:gdLst/>
            <a:ahLst/>
            <a:cxnLst/>
            <a:rect l="l" t="t" r="r" b="b"/>
            <a:pathLst>
              <a:path w="456743" h="456743">
                <a:moveTo>
                  <a:pt x="228371" y="0"/>
                </a:moveTo>
                <a:cubicBezTo>
                  <a:pt x="354413" y="0"/>
                  <a:pt x="456743" y="102330"/>
                  <a:pt x="456743" y="228371"/>
                </a:cubicBezTo>
                <a:cubicBezTo>
                  <a:pt x="456743" y="354413"/>
                  <a:pt x="354413" y="456743"/>
                  <a:pt x="228371" y="456743"/>
                </a:cubicBezTo>
                <a:cubicBezTo>
                  <a:pt x="102330" y="456743"/>
                  <a:pt x="0" y="354413"/>
                  <a:pt x="0" y="228371"/>
                </a:cubicBezTo>
                <a:cubicBezTo>
                  <a:pt x="0" y="102330"/>
                  <a:pt x="102330" y="0"/>
                  <a:pt x="228371" y="0"/>
                </a:cubicBezTo>
                <a:close/>
              </a:path>
            </a:pathLst>
          </a:custGeom>
          <a:solidFill>
            <a:srgbClr val="F1CB8F"/>
          </a:solidFill>
          <a:ln/>
        </p:spPr>
      </p:sp>
      <p:sp>
        <p:nvSpPr>
          <p:cNvPr id="23" name="Text 20"/>
          <p:cNvSpPr/>
          <p:nvPr/>
        </p:nvSpPr>
        <p:spPr>
          <a:xfrm>
            <a:off x="341983" y="2133885"/>
            <a:ext cx="456743" cy="4567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sp>
        <p:nvSpPr>
          <p:cNvPr id="24" name="Text 21"/>
          <p:cNvSpPr/>
          <p:nvPr/>
        </p:nvSpPr>
        <p:spPr>
          <a:xfrm>
            <a:off x="355607" y="2130552"/>
            <a:ext cx="429311" cy="4572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75"/>
              </a:spcBef>
              <a:buNone/>
            </a:pPr>
            <a:r>
              <a:rPr lang="en-US" sz="1500" dirty="0">
                <a:solidFill>
                  <a:srgbClr val="427092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05</a:t>
            </a:r>
            <a:endParaRPr lang="en-US" sz="2250" dirty="0"/>
          </a:p>
        </p:txBody>
      </p:sp>
      <p:sp>
        <p:nvSpPr>
          <p:cNvPr id="25" name="Text 22"/>
          <p:cNvSpPr/>
          <p:nvPr/>
        </p:nvSpPr>
        <p:spPr>
          <a:xfrm>
            <a:off x="949876" y="2130552"/>
            <a:ext cx="1941013" cy="4572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75"/>
              </a:spcBef>
              <a:buNone/>
            </a:pPr>
            <a:r>
              <a:rPr lang="en-US" sz="1800" dirty="0">
                <a:solidFill>
                  <a:srgbClr val="FFFFFF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典型例题</a:t>
            </a:r>
            <a:endParaRPr lang="en-US" sz="2250" dirty="0"/>
          </a:p>
        </p:txBody>
      </p:sp>
      <p:sp>
        <p:nvSpPr>
          <p:cNvPr id="26" name="Shape 23"/>
          <p:cNvSpPr/>
          <p:nvPr/>
        </p:nvSpPr>
        <p:spPr>
          <a:xfrm>
            <a:off x="2904696" y="2133885"/>
            <a:ext cx="456743" cy="456743"/>
          </a:xfrm>
          <a:custGeom>
            <a:avLst/>
            <a:gdLst/>
            <a:ahLst/>
            <a:cxnLst/>
            <a:rect l="l" t="t" r="r" b="b"/>
            <a:pathLst>
              <a:path w="456743" h="456743">
                <a:moveTo>
                  <a:pt x="228371" y="0"/>
                </a:moveTo>
                <a:cubicBezTo>
                  <a:pt x="354413" y="0"/>
                  <a:pt x="456743" y="102330"/>
                  <a:pt x="456743" y="228371"/>
                </a:cubicBezTo>
                <a:cubicBezTo>
                  <a:pt x="456743" y="354413"/>
                  <a:pt x="354413" y="456743"/>
                  <a:pt x="228371" y="456743"/>
                </a:cubicBezTo>
                <a:cubicBezTo>
                  <a:pt x="102330" y="456743"/>
                  <a:pt x="0" y="354413"/>
                  <a:pt x="0" y="228371"/>
                </a:cubicBezTo>
                <a:cubicBezTo>
                  <a:pt x="0" y="102330"/>
                  <a:pt x="102330" y="0"/>
                  <a:pt x="228371" y="0"/>
                </a:cubicBezTo>
                <a:close/>
              </a:path>
            </a:pathLst>
          </a:custGeom>
          <a:solidFill>
            <a:srgbClr val="F1CB8F"/>
          </a:solidFill>
          <a:ln/>
        </p:spPr>
      </p:sp>
      <p:sp>
        <p:nvSpPr>
          <p:cNvPr id="27" name="Text 24"/>
          <p:cNvSpPr/>
          <p:nvPr/>
        </p:nvSpPr>
        <p:spPr>
          <a:xfrm>
            <a:off x="2904696" y="2133885"/>
            <a:ext cx="456743" cy="4567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sp>
        <p:nvSpPr>
          <p:cNvPr id="28" name="Text 25"/>
          <p:cNvSpPr/>
          <p:nvPr/>
        </p:nvSpPr>
        <p:spPr>
          <a:xfrm>
            <a:off x="2918320" y="2130552"/>
            <a:ext cx="429311" cy="4572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75"/>
              </a:spcBef>
              <a:buNone/>
            </a:pPr>
            <a:r>
              <a:rPr lang="en-US" sz="1500" dirty="0">
                <a:solidFill>
                  <a:srgbClr val="427092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06</a:t>
            </a:r>
            <a:endParaRPr lang="en-US" sz="2250" dirty="0"/>
          </a:p>
        </p:txBody>
      </p:sp>
      <p:sp>
        <p:nvSpPr>
          <p:cNvPr id="29" name="Text 26"/>
          <p:cNvSpPr/>
          <p:nvPr/>
        </p:nvSpPr>
        <p:spPr>
          <a:xfrm>
            <a:off x="3512589" y="2130552"/>
            <a:ext cx="2024327" cy="4572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75"/>
              </a:spcBef>
              <a:buNone/>
            </a:pPr>
            <a:r>
              <a:rPr lang="en-US" sz="1800" dirty="0">
                <a:solidFill>
                  <a:srgbClr val="FFFFFF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易错⊀⊅辨析</a:t>
            </a:r>
            <a:endParaRPr lang="en-US" sz="2250" dirty="0"/>
          </a:p>
        </p:txBody>
      </p:sp>
      <p:sp>
        <p:nvSpPr>
          <p:cNvPr id="30" name="Shape 27"/>
          <p:cNvSpPr/>
          <p:nvPr/>
        </p:nvSpPr>
        <p:spPr>
          <a:xfrm>
            <a:off x="341983" y="2814930"/>
            <a:ext cx="456743" cy="456743"/>
          </a:xfrm>
          <a:custGeom>
            <a:avLst/>
            <a:gdLst/>
            <a:ahLst/>
            <a:cxnLst/>
            <a:rect l="l" t="t" r="r" b="b"/>
            <a:pathLst>
              <a:path w="456743" h="456743">
                <a:moveTo>
                  <a:pt x="228371" y="0"/>
                </a:moveTo>
                <a:cubicBezTo>
                  <a:pt x="354413" y="0"/>
                  <a:pt x="456743" y="102330"/>
                  <a:pt x="456743" y="228371"/>
                </a:cubicBezTo>
                <a:cubicBezTo>
                  <a:pt x="456743" y="354413"/>
                  <a:pt x="354413" y="456743"/>
                  <a:pt x="228371" y="456743"/>
                </a:cubicBezTo>
                <a:cubicBezTo>
                  <a:pt x="102330" y="456743"/>
                  <a:pt x="0" y="354413"/>
                  <a:pt x="0" y="228371"/>
                </a:cubicBezTo>
                <a:cubicBezTo>
                  <a:pt x="0" y="102330"/>
                  <a:pt x="102330" y="0"/>
                  <a:pt x="228371" y="0"/>
                </a:cubicBezTo>
                <a:close/>
              </a:path>
            </a:pathLst>
          </a:custGeom>
          <a:solidFill>
            <a:srgbClr val="F1CB8F"/>
          </a:solidFill>
          <a:ln/>
        </p:spPr>
      </p:sp>
      <p:sp>
        <p:nvSpPr>
          <p:cNvPr id="31" name="Text 28"/>
          <p:cNvSpPr/>
          <p:nvPr/>
        </p:nvSpPr>
        <p:spPr>
          <a:xfrm>
            <a:off x="341983" y="2814930"/>
            <a:ext cx="456743" cy="4567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sp>
        <p:nvSpPr>
          <p:cNvPr id="32" name="Text 29"/>
          <p:cNvSpPr/>
          <p:nvPr/>
        </p:nvSpPr>
        <p:spPr>
          <a:xfrm>
            <a:off x="355607" y="2807208"/>
            <a:ext cx="538776" cy="4572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75"/>
              </a:spcBef>
              <a:buNone/>
            </a:pPr>
            <a:r>
              <a:rPr lang="en-US" sz="1500" dirty="0">
                <a:solidFill>
                  <a:srgbClr val="427092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07</a:t>
            </a:r>
            <a:endParaRPr lang="en-US" sz="2250" dirty="0"/>
          </a:p>
        </p:txBody>
      </p:sp>
      <p:sp>
        <p:nvSpPr>
          <p:cNvPr id="33" name="Text 30"/>
          <p:cNvSpPr/>
          <p:nvPr/>
        </p:nvSpPr>
        <p:spPr>
          <a:xfrm>
            <a:off x="949876" y="2807208"/>
            <a:ext cx="1941013" cy="4572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75"/>
              </a:spcBef>
              <a:buNone/>
            </a:pPr>
            <a:r>
              <a:rPr lang="en-US" sz="1800" dirty="0">
                <a:solidFill>
                  <a:srgbClr val="FFFFFF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拓展应用</a:t>
            </a:r>
            <a:endParaRPr lang="en-US" sz="2250" dirty="0"/>
          </a:p>
        </p:txBody>
      </p:sp>
      <p:sp>
        <p:nvSpPr>
          <p:cNvPr id="34" name="Shape 31"/>
          <p:cNvSpPr/>
          <p:nvPr/>
        </p:nvSpPr>
        <p:spPr>
          <a:xfrm>
            <a:off x="2904696" y="2814930"/>
            <a:ext cx="456743" cy="456743"/>
          </a:xfrm>
          <a:custGeom>
            <a:avLst/>
            <a:gdLst/>
            <a:ahLst/>
            <a:cxnLst/>
            <a:rect l="l" t="t" r="r" b="b"/>
            <a:pathLst>
              <a:path w="456743" h="456743">
                <a:moveTo>
                  <a:pt x="228371" y="0"/>
                </a:moveTo>
                <a:cubicBezTo>
                  <a:pt x="354413" y="0"/>
                  <a:pt x="456743" y="102330"/>
                  <a:pt x="456743" y="228371"/>
                </a:cubicBezTo>
                <a:cubicBezTo>
                  <a:pt x="456743" y="354413"/>
                  <a:pt x="354413" y="456743"/>
                  <a:pt x="228371" y="456743"/>
                </a:cubicBezTo>
                <a:cubicBezTo>
                  <a:pt x="102330" y="456743"/>
                  <a:pt x="0" y="354413"/>
                  <a:pt x="0" y="228371"/>
                </a:cubicBezTo>
                <a:cubicBezTo>
                  <a:pt x="0" y="102330"/>
                  <a:pt x="102330" y="0"/>
                  <a:pt x="228371" y="0"/>
                </a:cubicBezTo>
                <a:close/>
              </a:path>
            </a:pathLst>
          </a:custGeom>
          <a:solidFill>
            <a:srgbClr val="F1CB8F"/>
          </a:solidFill>
          <a:ln/>
        </p:spPr>
      </p:sp>
      <p:sp>
        <p:nvSpPr>
          <p:cNvPr id="35" name="Text 32"/>
          <p:cNvSpPr/>
          <p:nvPr/>
        </p:nvSpPr>
        <p:spPr>
          <a:xfrm>
            <a:off x="2904696" y="2814930"/>
            <a:ext cx="456743" cy="4567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sp>
        <p:nvSpPr>
          <p:cNvPr id="36" name="Text 33"/>
          <p:cNvSpPr/>
          <p:nvPr/>
        </p:nvSpPr>
        <p:spPr>
          <a:xfrm>
            <a:off x="2918320" y="2807208"/>
            <a:ext cx="538776" cy="4572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75"/>
              </a:spcBef>
              <a:buNone/>
            </a:pPr>
            <a:r>
              <a:rPr lang="en-US" sz="1500" dirty="0">
                <a:solidFill>
                  <a:srgbClr val="427092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08</a:t>
            </a:r>
            <a:endParaRPr lang="en-US" sz="2250" dirty="0"/>
          </a:p>
        </p:txBody>
      </p:sp>
      <p:sp>
        <p:nvSpPr>
          <p:cNvPr id="37" name="Text 34"/>
          <p:cNvSpPr/>
          <p:nvPr/>
        </p:nvSpPr>
        <p:spPr>
          <a:xfrm>
            <a:off x="3512589" y="2807208"/>
            <a:ext cx="2024327" cy="4572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75"/>
              </a:spcBef>
              <a:buNone/>
            </a:pPr>
            <a:r>
              <a:rPr lang="en-US" sz="1800" dirty="0">
                <a:solidFill>
                  <a:srgbClr val="FFFFFF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巩固练习</a:t>
            </a:r>
            <a:endParaRPr lang="en-US" sz="2250" dirty="0"/>
          </a:p>
        </p:txBody>
      </p:sp>
      <p:sp>
        <p:nvSpPr>
          <p:cNvPr id="38" name="Shape 35"/>
          <p:cNvSpPr/>
          <p:nvPr/>
        </p:nvSpPr>
        <p:spPr>
          <a:xfrm>
            <a:off x="328175" y="3481474"/>
            <a:ext cx="456743" cy="456743"/>
          </a:xfrm>
          <a:custGeom>
            <a:avLst/>
            <a:gdLst/>
            <a:ahLst/>
            <a:cxnLst/>
            <a:rect l="l" t="t" r="r" b="b"/>
            <a:pathLst>
              <a:path w="456743" h="456743">
                <a:moveTo>
                  <a:pt x="228371" y="0"/>
                </a:moveTo>
                <a:cubicBezTo>
                  <a:pt x="354413" y="0"/>
                  <a:pt x="456743" y="102330"/>
                  <a:pt x="456743" y="228371"/>
                </a:cubicBezTo>
                <a:cubicBezTo>
                  <a:pt x="456743" y="354413"/>
                  <a:pt x="354413" y="456743"/>
                  <a:pt x="228371" y="456743"/>
                </a:cubicBezTo>
                <a:cubicBezTo>
                  <a:pt x="102330" y="456743"/>
                  <a:pt x="0" y="354413"/>
                  <a:pt x="0" y="228371"/>
                </a:cubicBezTo>
                <a:cubicBezTo>
                  <a:pt x="0" y="102330"/>
                  <a:pt x="102330" y="0"/>
                  <a:pt x="228371" y="0"/>
                </a:cubicBezTo>
                <a:close/>
              </a:path>
            </a:pathLst>
          </a:custGeom>
          <a:solidFill>
            <a:srgbClr val="F1CB8F"/>
          </a:solidFill>
          <a:ln/>
        </p:spPr>
      </p:sp>
      <p:sp>
        <p:nvSpPr>
          <p:cNvPr id="39" name="Text 36"/>
          <p:cNvSpPr/>
          <p:nvPr/>
        </p:nvSpPr>
        <p:spPr>
          <a:xfrm>
            <a:off x="328175" y="3481474"/>
            <a:ext cx="456743" cy="4567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sp>
        <p:nvSpPr>
          <p:cNvPr id="40" name="Text 37"/>
          <p:cNvSpPr/>
          <p:nvPr/>
        </p:nvSpPr>
        <p:spPr>
          <a:xfrm>
            <a:off x="341800" y="3474720"/>
            <a:ext cx="429311" cy="4572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75"/>
              </a:spcBef>
              <a:buNone/>
            </a:pPr>
            <a:r>
              <a:rPr lang="en-US" sz="1500" dirty="0">
                <a:solidFill>
                  <a:srgbClr val="427092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09</a:t>
            </a:r>
            <a:endParaRPr lang="en-US" sz="2250" dirty="0"/>
          </a:p>
        </p:txBody>
      </p:sp>
      <p:sp>
        <p:nvSpPr>
          <p:cNvPr id="41" name="Text 38"/>
          <p:cNvSpPr/>
          <p:nvPr/>
        </p:nvSpPr>
        <p:spPr>
          <a:xfrm>
            <a:off x="936068" y="3474720"/>
            <a:ext cx="1954820" cy="4572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75"/>
              </a:spcBef>
              <a:buNone/>
            </a:pPr>
            <a:r>
              <a:rPr lang="en-US" sz="1800" dirty="0">
                <a:solidFill>
                  <a:srgbClr val="FFFFFF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知识梳理</a:t>
            </a:r>
            <a:endParaRPr lang="en-US" sz="2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-12893"/>
            <a:ext cx="9157807" cy="516919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-12893"/>
            <a:ext cx="9157807" cy="51691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44057" y="-12893"/>
            <a:ext cx="3213293" cy="507684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944057" y="-12893"/>
            <a:ext cx="3213293" cy="5076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sp>
        <p:nvSpPr>
          <p:cNvPr id="6" name="Shape 2"/>
          <p:cNvSpPr/>
          <p:nvPr/>
        </p:nvSpPr>
        <p:spPr>
          <a:xfrm>
            <a:off x="153619" y="132679"/>
            <a:ext cx="8836853" cy="4878233"/>
          </a:xfrm>
          <a:custGeom>
            <a:avLst/>
            <a:gdLst/>
            <a:ahLst/>
            <a:cxnLst/>
            <a:rect l="l" t="t" r="r" b="b"/>
            <a:pathLst>
              <a:path w="8836853" h="4878233">
                <a:moveTo>
                  <a:pt x="0" y="0"/>
                </a:moveTo>
                <a:lnTo>
                  <a:pt x="8836853" y="0"/>
                </a:lnTo>
                <a:lnTo>
                  <a:pt x="8836853" y="4878233"/>
                </a:lnTo>
                <a:lnTo>
                  <a:pt x="0" y="4878233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" name="Text 3"/>
          <p:cNvSpPr/>
          <p:nvPr/>
        </p:nvSpPr>
        <p:spPr>
          <a:xfrm>
            <a:off x="153619" y="132679"/>
            <a:ext cx="8836853" cy="487823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sp>
        <p:nvSpPr>
          <p:cNvPr id="8" name="Text 4"/>
          <p:cNvSpPr/>
          <p:nvPr/>
        </p:nvSpPr>
        <p:spPr>
          <a:xfrm>
            <a:off x="2544242" y="2084556"/>
            <a:ext cx="4361657" cy="63093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algn="ctr" indent="0" marL="0">
              <a:lnSpc>
                <a:spcPct val="80000"/>
              </a:lnSpc>
              <a:spcBef>
                <a:spcPts val="375"/>
              </a:spcBef>
              <a:buNone/>
            </a:pPr>
            <a:r>
              <a:rPr lang="en-US" sz="3675" dirty="0">
                <a:solidFill>
                  <a:srgbClr val="427092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1 课程说明</a:t>
            </a:r>
            <a:endParaRPr lang="en-US" sz="2250" dirty="0"/>
          </a:p>
        </p:txBody>
      </p:sp>
      <p:sp>
        <p:nvSpPr>
          <p:cNvPr id="9" name="Shape 5"/>
          <p:cNvSpPr/>
          <p:nvPr/>
        </p:nvSpPr>
        <p:spPr>
          <a:xfrm>
            <a:off x="4046952" y="3032940"/>
            <a:ext cx="292425" cy="292425"/>
          </a:xfrm>
          <a:custGeom>
            <a:avLst/>
            <a:gdLst/>
            <a:ahLst/>
            <a:cxnLst/>
            <a:rect l="l" t="t" r="r" b="b"/>
            <a:pathLst>
              <a:path w="292425" h="292425">
                <a:moveTo>
                  <a:pt x="146213" y="0"/>
                </a:moveTo>
                <a:cubicBezTo>
                  <a:pt x="226909" y="0"/>
                  <a:pt x="292425" y="65516"/>
                  <a:pt x="292425" y="146213"/>
                </a:cubicBezTo>
                <a:cubicBezTo>
                  <a:pt x="292425" y="226909"/>
                  <a:pt x="226909" y="292425"/>
                  <a:pt x="146213" y="292425"/>
                </a:cubicBezTo>
                <a:cubicBezTo>
                  <a:pt x="65516" y="292425"/>
                  <a:pt x="0" y="226909"/>
                  <a:pt x="0" y="146213"/>
                </a:cubicBezTo>
                <a:cubicBezTo>
                  <a:pt x="0" y="65516"/>
                  <a:pt x="65516" y="0"/>
                  <a:pt x="146213" y="0"/>
                </a:cubicBezTo>
                <a:close/>
              </a:path>
            </a:pathLst>
          </a:custGeom>
          <a:solidFill>
            <a:srgbClr val="F1CB8F"/>
          </a:solidFill>
          <a:ln/>
        </p:spPr>
      </p:sp>
      <p:sp>
        <p:nvSpPr>
          <p:cNvPr id="10" name="Text 6"/>
          <p:cNvSpPr/>
          <p:nvPr/>
        </p:nvSpPr>
        <p:spPr>
          <a:xfrm>
            <a:off x="4046952" y="3032940"/>
            <a:ext cx="292425" cy="2924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sp>
        <p:nvSpPr>
          <p:cNvPr id="11" name="Shape 7"/>
          <p:cNvSpPr/>
          <p:nvPr/>
        </p:nvSpPr>
        <p:spPr>
          <a:xfrm>
            <a:off x="4432645" y="3032940"/>
            <a:ext cx="292425" cy="292425"/>
          </a:xfrm>
          <a:custGeom>
            <a:avLst/>
            <a:gdLst/>
            <a:ahLst/>
            <a:cxnLst/>
            <a:rect l="l" t="t" r="r" b="b"/>
            <a:pathLst>
              <a:path w="292425" h="292425">
                <a:moveTo>
                  <a:pt x="146213" y="0"/>
                </a:moveTo>
                <a:cubicBezTo>
                  <a:pt x="226909" y="0"/>
                  <a:pt x="292425" y="65516"/>
                  <a:pt x="292425" y="146213"/>
                </a:cubicBezTo>
                <a:cubicBezTo>
                  <a:pt x="292425" y="226909"/>
                  <a:pt x="226909" y="292425"/>
                  <a:pt x="146213" y="292425"/>
                </a:cubicBezTo>
                <a:cubicBezTo>
                  <a:pt x="65516" y="292425"/>
                  <a:pt x="0" y="226909"/>
                  <a:pt x="0" y="146213"/>
                </a:cubicBezTo>
                <a:cubicBezTo>
                  <a:pt x="0" y="65516"/>
                  <a:pt x="65516" y="0"/>
                  <a:pt x="146213" y="0"/>
                </a:cubicBezTo>
                <a:close/>
              </a:path>
            </a:pathLst>
          </a:custGeom>
          <a:solidFill>
            <a:srgbClr val="427092"/>
          </a:solidFill>
          <a:ln/>
        </p:spPr>
      </p:sp>
      <p:sp>
        <p:nvSpPr>
          <p:cNvPr id="12" name="Text 8"/>
          <p:cNvSpPr/>
          <p:nvPr/>
        </p:nvSpPr>
        <p:spPr>
          <a:xfrm>
            <a:off x="4432645" y="3032940"/>
            <a:ext cx="292425" cy="2924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sp>
        <p:nvSpPr>
          <p:cNvPr id="13" name="Shape 9"/>
          <p:cNvSpPr/>
          <p:nvPr/>
        </p:nvSpPr>
        <p:spPr>
          <a:xfrm>
            <a:off x="4818431" y="3032940"/>
            <a:ext cx="292425" cy="292425"/>
          </a:xfrm>
          <a:custGeom>
            <a:avLst/>
            <a:gdLst/>
            <a:ahLst/>
            <a:cxnLst/>
            <a:rect l="l" t="t" r="r" b="b"/>
            <a:pathLst>
              <a:path w="292425" h="292425">
                <a:moveTo>
                  <a:pt x="146213" y="0"/>
                </a:moveTo>
                <a:cubicBezTo>
                  <a:pt x="226909" y="0"/>
                  <a:pt x="292425" y="65516"/>
                  <a:pt x="292425" y="146213"/>
                </a:cubicBezTo>
                <a:cubicBezTo>
                  <a:pt x="292425" y="226909"/>
                  <a:pt x="226909" y="292425"/>
                  <a:pt x="146213" y="292425"/>
                </a:cubicBezTo>
                <a:cubicBezTo>
                  <a:pt x="65516" y="292425"/>
                  <a:pt x="0" y="226909"/>
                  <a:pt x="0" y="146213"/>
                </a:cubicBezTo>
                <a:cubicBezTo>
                  <a:pt x="0" y="65516"/>
                  <a:pt x="65516" y="0"/>
                  <a:pt x="146213" y="0"/>
                </a:cubicBezTo>
                <a:close/>
              </a:path>
            </a:pathLst>
          </a:custGeom>
          <a:solidFill>
            <a:srgbClr val="F1CB8F"/>
          </a:solidFill>
          <a:ln/>
        </p:spPr>
      </p:sp>
      <p:sp>
        <p:nvSpPr>
          <p:cNvPr id="14" name="Text 10"/>
          <p:cNvSpPr/>
          <p:nvPr/>
        </p:nvSpPr>
        <p:spPr>
          <a:xfrm>
            <a:off x="4818431" y="3032940"/>
            <a:ext cx="292425" cy="2924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404961" y="1474006"/>
            <a:ext cx="347886" cy="38471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404961" y="1474006"/>
            <a:ext cx="347886" cy="3847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-12893"/>
            <a:ext cx="9157807" cy="516919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-12893"/>
            <a:ext cx="9157807" cy="51691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44057" y="-12893"/>
            <a:ext cx="3213293" cy="507684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944057" y="-12893"/>
            <a:ext cx="3213293" cy="5076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sp>
        <p:nvSpPr>
          <p:cNvPr id="6" name="Shape 2"/>
          <p:cNvSpPr/>
          <p:nvPr/>
        </p:nvSpPr>
        <p:spPr>
          <a:xfrm>
            <a:off x="146304" y="128016"/>
            <a:ext cx="8833104" cy="4873752"/>
          </a:xfrm>
          <a:custGeom>
            <a:avLst/>
            <a:gdLst/>
            <a:ahLst/>
            <a:cxnLst/>
            <a:rect l="l" t="t" r="r" b="b"/>
            <a:pathLst>
              <a:path w="8833104" h="4873752">
                <a:moveTo>
                  <a:pt x="0" y="0"/>
                </a:moveTo>
                <a:lnTo>
                  <a:pt x="8833104" y="0"/>
                </a:lnTo>
                <a:lnTo>
                  <a:pt x="8833104" y="4873752"/>
                </a:lnTo>
                <a:lnTo>
                  <a:pt x="0" y="4873752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" name="Text 3"/>
          <p:cNvSpPr/>
          <p:nvPr/>
        </p:nvSpPr>
        <p:spPr>
          <a:xfrm>
            <a:off x="146304" y="128016"/>
            <a:ext cx="8833104" cy="4873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pic>
        <p:nvPicPr>
          <p:cNvPr id="8" name="Image 2" descr="https://static.yipigai.cn/public/muban/3/nr-2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6304" y="3127248"/>
            <a:ext cx="8833104" cy="2782519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308153" y="410017"/>
            <a:ext cx="158557" cy="158557"/>
          </a:xfrm>
          <a:custGeom>
            <a:avLst/>
            <a:gdLst/>
            <a:ahLst/>
            <a:cxnLst/>
            <a:rect l="l" t="t" r="r" b="b"/>
            <a:pathLst>
              <a:path w="158557" h="158557">
                <a:moveTo>
                  <a:pt x="79278" y="0"/>
                </a:moveTo>
                <a:cubicBezTo>
                  <a:pt x="123033" y="0"/>
                  <a:pt x="158557" y="35523"/>
                  <a:pt x="158557" y="79278"/>
                </a:cubicBezTo>
                <a:cubicBezTo>
                  <a:pt x="158557" y="123033"/>
                  <a:pt x="123033" y="158557"/>
                  <a:pt x="79278" y="158557"/>
                </a:cubicBezTo>
                <a:cubicBezTo>
                  <a:pt x="35523" y="158557"/>
                  <a:pt x="0" y="123033"/>
                  <a:pt x="0" y="79278"/>
                </a:cubicBezTo>
                <a:cubicBezTo>
                  <a:pt x="0" y="35523"/>
                  <a:pt x="35523" y="0"/>
                  <a:pt x="79278" y="0"/>
                </a:cubicBezTo>
                <a:close/>
              </a:path>
            </a:pathLst>
          </a:custGeom>
          <a:solidFill>
            <a:srgbClr val="427092"/>
          </a:solidFill>
          <a:ln/>
        </p:spPr>
      </p:sp>
      <p:sp>
        <p:nvSpPr>
          <p:cNvPr id="10" name="Text 5"/>
          <p:cNvSpPr/>
          <p:nvPr/>
        </p:nvSpPr>
        <p:spPr>
          <a:xfrm>
            <a:off x="308153" y="410017"/>
            <a:ext cx="158557" cy="1585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sp>
        <p:nvSpPr>
          <p:cNvPr id="11" name="Text 6"/>
          <p:cNvSpPr/>
          <p:nvPr/>
        </p:nvSpPr>
        <p:spPr>
          <a:xfrm>
            <a:off x="538124" y="237744"/>
            <a:ext cx="3413364" cy="4572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75"/>
              </a:spcBef>
              <a:buNone/>
            </a:pPr>
            <a:r>
              <a:rPr lang="en-US" sz="1800" b="1" dirty="0">
                <a:solidFill>
                  <a:srgbClr val="427092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1.1 课程定位</a:t>
            </a:r>
            <a:endParaRPr lang="en-US" sz="2250" dirty="0"/>
          </a:p>
        </p:txBody>
      </p:sp>
      <p:sp>
        <p:nvSpPr>
          <p:cNvPr id="12" name="Text 7"/>
          <p:cNvSpPr/>
          <p:nvPr/>
        </p:nvSpPr>
        <p:spPr>
          <a:xfrm>
            <a:off x="640080" y="969264"/>
            <a:ext cx="7863840" cy="26517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225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本节课属于高中化学拓展模块内容，聚焦化学反应过程中的产率计算与物料转化规律，是连接化学热力学基础与化工生产实际应用的核心知识点。内容要求学生在掌握物质的量计算、化学方程式配平的基础上，进一步理解反应进程中各物质的转化关系，能够独立完成多步反应的总产率推导与相关计算，为后续化工流程类题型的学习构建底层逻辑框架。</a:t>
            </a:r>
            <a:endParaRPr lang="en-US" sz="2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-12893"/>
            <a:ext cx="9157807" cy="516919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-12893"/>
            <a:ext cx="9157807" cy="51691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44057" y="-12893"/>
            <a:ext cx="3213293" cy="507684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944057" y="-12893"/>
            <a:ext cx="3213293" cy="5076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sp>
        <p:nvSpPr>
          <p:cNvPr id="6" name="Shape 2"/>
          <p:cNvSpPr/>
          <p:nvPr/>
        </p:nvSpPr>
        <p:spPr>
          <a:xfrm>
            <a:off x="146304" y="128016"/>
            <a:ext cx="8833104" cy="4873752"/>
          </a:xfrm>
          <a:custGeom>
            <a:avLst/>
            <a:gdLst/>
            <a:ahLst/>
            <a:cxnLst/>
            <a:rect l="l" t="t" r="r" b="b"/>
            <a:pathLst>
              <a:path w="8833104" h="4873752">
                <a:moveTo>
                  <a:pt x="0" y="0"/>
                </a:moveTo>
                <a:lnTo>
                  <a:pt x="8833104" y="0"/>
                </a:lnTo>
                <a:lnTo>
                  <a:pt x="8833104" y="4873752"/>
                </a:lnTo>
                <a:lnTo>
                  <a:pt x="0" y="4873752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" name="Text 3"/>
          <p:cNvSpPr/>
          <p:nvPr/>
        </p:nvSpPr>
        <p:spPr>
          <a:xfrm>
            <a:off x="146304" y="128016"/>
            <a:ext cx="8833104" cy="4873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pic>
        <p:nvPicPr>
          <p:cNvPr id="8" name="Image 2" descr="https://static.yipigai.cn/public/muban/3/nr-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6304" y="2779776"/>
            <a:ext cx="8833104" cy="2226564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308153" y="410017"/>
            <a:ext cx="158557" cy="158557"/>
          </a:xfrm>
          <a:custGeom>
            <a:avLst/>
            <a:gdLst/>
            <a:ahLst/>
            <a:cxnLst/>
            <a:rect l="l" t="t" r="r" b="b"/>
            <a:pathLst>
              <a:path w="158557" h="158557">
                <a:moveTo>
                  <a:pt x="79278" y="0"/>
                </a:moveTo>
                <a:cubicBezTo>
                  <a:pt x="123033" y="0"/>
                  <a:pt x="158557" y="35523"/>
                  <a:pt x="158557" y="79278"/>
                </a:cubicBezTo>
                <a:cubicBezTo>
                  <a:pt x="158557" y="123033"/>
                  <a:pt x="123033" y="158557"/>
                  <a:pt x="79278" y="158557"/>
                </a:cubicBezTo>
                <a:cubicBezTo>
                  <a:pt x="35523" y="158557"/>
                  <a:pt x="0" y="123033"/>
                  <a:pt x="0" y="79278"/>
                </a:cubicBezTo>
                <a:cubicBezTo>
                  <a:pt x="0" y="35523"/>
                  <a:pt x="35523" y="0"/>
                  <a:pt x="79278" y="0"/>
                </a:cubicBezTo>
                <a:close/>
              </a:path>
            </a:pathLst>
          </a:custGeom>
          <a:solidFill>
            <a:srgbClr val="427092"/>
          </a:solidFill>
          <a:ln/>
        </p:spPr>
      </p:sp>
      <p:sp>
        <p:nvSpPr>
          <p:cNvPr id="10" name="Text 5"/>
          <p:cNvSpPr/>
          <p:nvPr/>
        </p:nvSpPr>
        <p:spPr>
          <a:xfrm>
            <a:off x="308153" y="410017"/>
            <a:ext cx="158557" cy="1585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sp>
        <p:nvSpPr>
          <p:cNvPr id="11" name="Text 6"/>
          <p:cNvSpPr/>
          <p:nvPr/>
        </p:nvSpPr>
        <p:spPr>
          <a:xfrm>
            <a:off x="538124" y="237744"/>
            <a:ext cx="3413364" cy="4572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75"/>
              </a:spcBef>
              <a:buNone/>
            </a:pPr>
            <a:r>
              <a:rPr lang="en-US" sz="1800" b="1" dirty="0">
                <a:solidFill>
                  <a:srgbClr val="427092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1.2 学习目标</a:t>
            </a:r>
            <a:endParaRPr lang="en-US" sz="2250" dirty="0"/>
          </a:p>
        </p:txBody>
      </p:sp>
      <p:sp>
        <p:nvSpPr>
          <p:cNvPr id="12" name="Text 7"/>
          <p:cNvSpPr/>
          <p:nvPr/>
        </p:nvSpPr>
        <p:spPr>
          <a:xfrm>
            <a:off x="640080" y="969264"/>
            <a:ext cx="7863840" cy="361188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225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1. 准确掌握产率、转化率、原子利用率三个核心概念的定义与表达式，能够区分三者的应用场景；</a:t>
            </a:r>
            <a:endParaRPr lang="en-US" sz="2250" dirty="0"/>
          </a:p>
          <a:p>
            <a:pPr indent="0" marL="0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225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2. 熟练掌握单步反应、多步连续反应、平行反应的产率计算方法，能够依据反应关系推导各步产物的理论产量与实际产量；</a:t>
            </a:r>
            <a:endParaRPr lang="en-US" sz="2250" dirty="0"/>
          </a:p>
          <a:p>
            <a:pPr indent="0" marL="0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225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3. 能够结合反应条件分析影响产率的核心因素，基于计算结果提出提升生产效率的可行方案；</a:t>
            </a:r>
            <a:endParaRPr lang="en-US" sz="2250" dirty="0"/>
          </a:p>
          <a:p>
            <a:pPr indent="0" marL="0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225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4. 能够独立完成化工流程类题型中产率相关模块的计算，解题步骤规范、结果误差控制在允许范围内。</a:t>
            </a:r>
            <a:endParaRPr lang="en-US" sz="2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-12893"/>
            <a:ext cx="9157807" cy="516919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-12893"/>
            <a:ext cx="9157807" cy="51691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44057" y="-12893"/>
            <a:ext cx="3213293" cy="507684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944057" y="-12893"/>
            <a:ext cx="3213293" cy="5076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sp>
        <p:nvSpPr>
          <p:cNvPr id="6" name="Shape 2"/>
          <p:cNvSpPr/>
          <p:nvPr/>
        </p:nvSpPr>
        <p:spPr>
          <a:xfrm>
            <a:off x="153619" y="132679"/>
            <a:ext cx="8836853" cy="4878233"/>
          </a:xfrm>
          <a:custGeom>
            <a:avLst/>
            <a:gdLst/>
            <a:ahLst/>
            <a:cxnLst/>
            <a:rect l="l" t="t" r="r" b="b"/>
            <a:pathLst>
              <a:path w="8836853" h="4878233">
                <a:moveTo>
                  <a:pt x="0" y="0"/>
                </a:moveTo>
                <a:lnTo>
                  <a:pt x="8836853" y="0"/>
                </a:lnTo>
                <a:lnTo>
                  <a:pt x="8836853" y="4878233"/>
                </a:lnTo>
                <a:lnTo>
                  <a:pt x="0" y="4878233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" name="Text 3"/>
          <p:cNvSpPr/>
          <p:nvPr/>
        </p:nvSpPr>
        <p:spPr>
          <a:xfrm>
            <a:off x="153619" y="132679"/>
            <a:ext cx="8836853" cy="487823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sp>
        <p:nvSpPr>
          <p:cNvPr id="8" name="Text 4"/>
          <p:cNvSpPr/>
          <p:nvPr/>
        </p:nvSpPr>
        <p:spPr>
          <a:xfrm>
            <a:off x="2544242" y="2084556"/>
            <a:ext cx="4361657" cy="63093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algn="ctr" indent="0" marL="0">
              <a:lnSpc>
                <a:spcPct val="80000"/>
              </a:lnSpc>
              <a:spcBef>
                <a:spcPts val="375"/>
              </a:spcBef>
              <a:buNone/>
            </a:pPr>
            <a:r>
              <a:rPr lang="en-US" sz="3675" dirty="0">
                <a:solidFill>
                  <a:srgbClr val="427092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2 核心定义</a:t>
            </a:r>
            <a:endParaRPr lang="en-US" sz="2250" dirty="0"/>
          </a:p>
        </p:txBody>
      </p:sp>
      <p:sp>
        <p:nvSpPr>
          <p:cNvPr id="9" name="Shape 5"/>
          <p:cNvSpPr/>
          <p:nvPr/>
        </p:nvSpPr>
        <p:spPr>
          <a:xfrm>
            <a:off x="4046952" y="3032940"/>
            <a:ext cx="292425" cy="292425"/>
          </a:xfrm>
          <a:custGeom>
            <a:avLst/>
            <a:gdLst/>
            <a:ahLst/>
            <a:cxnLst/>
            <a:rect l="l" t="t" r="r" b="b"/>
            <a:pathLst>
              <a:path w="292425" h="292425">
                <a:moveTo>
                  <a:pt x="146213" y="0"/>
                </a:moveTo>
                <a:cubicBezTo>
                  <a:pt x="226909" y="0"/>
                  <a:pt x="292425" y="65516"/>
                  <a:pt x="292425" y="146213"/>
                </a:cubicBezTo>
                <a:cubicBezTo>
                  <a:pt x="292425" y="226909"/>
                  <a:pt x="226909" y="292425"/>
                  <a:pt x="146213" y="292425"/>
                </a:cubicBezTo>
                <a:cubicBezTo>
                  <a:pt x="65516" y="292425"/>
                  <a:pt x="0" y="226909"/>
                  <a:pt x="0" y="146213"/>
                </a:cubicBezTo>
                <a:cubicBezTo>
                  <a:pt x="0" y="65516"/>
                  <a:pt x="65516" y="0"/>
                  <a:pt x="146213" y="0"/>
                </a:cubicBezTo>
                <a:close/>
              </a:path>
            </a:pathLst>
          </a:custGeom>
          <a:solidFill>
            <a:srgbClr val="F1CB8F"/>
          </a:solidFill>
          <a:ln/>
        </p:spPr>
      </p:sp>
      <p:sp>
        <p:nvSpPr>
          <p:cNvPr id="10" name="Text 6"/>
          <p:cNvSpPr/>
          <p:nvPr/>
        </p:nvSpPr>
        <p:spPr>
          <a:xfrm>
            <a:off x="4046952" y="3032940"/>
            <a:ext cx="292425" cy="2924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sp>
        <p:nvSpPr>
          <p:cNvPr id="11" name="Shape 7"/>
          <p:cNvSpPr/>
          <p:nvPr/>
        </p:nvSpPr>
        <p:spPr>
          <a:xfrm>
            <a:off x="4432645" y="3032940"/>
            <a:ext cx="292425" cy="292425"/>
          </a:xfrm>
          <a:custGeom>
            <a:avLst/>
            <a:gdLst/>
            <a:ahLst/>
            <a:cxnLst/>
            <a:rect l="l" t="t" r="r" b="b"/>
            <a:pathLst>
              <a:path w="292425" h="292425">
                <a:moveTo>
                  <a:pt x="146213" y="0"/>
                </a:moveTo>
                <a:cubicBezTo>
                  <a:pt x="226909" y="0"/>
                  <a:pt x="292425" y="65516"/>
                  <a:pt x="292425" y="146213"/>
                </a:cubicBezTo>
                <a:cubicBezTo>
                  <a:pt x="292425" y="226909"/>
                  <a:pt x="226909" y="292425"/>
                  <a:pt x="146213" y="292425"/>
                </a:cubicBezTo>
                <a:cubicBezTo>
                  <a:pt x="65516" y="292425"/>
                  <a:pt x="0" y="226909"/>
                  <a:pt x="0" y="146213"/>
                </a:cubicBezTo>
                <a:cubicBezTo>
                  <a:pt x="0" y="65516"/>
                  <a:pt x="65516" y="0"/>
                  <a:pt x="146213" y="0"/>
                </a:cubicBezTo>
                <a:close/>
              </a:path>
            </a:pathLst>
          </a:custGeom>
          <a:solidFill>
            <a:srgbClr val="427092"/>
          </a:solidFill>
          <a:ln/>
        </p:spPr>
      </p:sp>
      <p:sp>
        <p:nvSpPr>
          <p:cNvPr id="12" name="Text 8"/>
          <p:cNvSpPr/>
          <p:nvPr/>
        </p:nvSpPr>
        <p:spPr>
          <a:xfrm>
            <a:off x="4432645" y="3032940"/>
            <a:ext cx="292425" cy="2924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sp>
        <p:nvSpPr>
          <p:cNvPr id="13" name="Shape 9"/>
          <p:cNvSpPr/>
          <p:nvPr/>
        </p:nvSpPr>
        <p:spPr>
          <a:xfrm>
            <a:off x="4818431" y="3032940"/>
            <a:ext cx="292425" cy="292425"/>
          </a:xfrm>
          <a:custGeom>
            <a:avLst/>
            <a:gdLst/>
            <a:ahLst/>
            <a:cxnLst/>
            <a:rect l="l" t="t" r="r" b="b"/>
            <a:pathLst>
              <a:path w="292425" h="292425">
                <a:moveTo>
                  <a:pt x="146213" y="0"/>
                </a:moveTo>
                <a:cubicBezTo>
                  <a:pt x="226909" y="0"/>
                  <a:pt x="292425" y="65516"/>
                  <a:pt x="292425" y="146213"/>
                </a:cubicBezTo>
                <a:cubicBezTo>
                  <a:pt x="292425" y="226909"/>
                  <a:pt x="226909" y="292425"/>
                  <a:pt x="146213" y="292425"/>
                </a:cubicBezTo>
                <a:cubicBezTo>
                  <a:pt x="65516" y="292425"/>
                  <a:pt x="0" y="226909"/>
                  <a:pt x="0" y="146213"/>
                </a:cubicBezTo>
                <a:cubicBezTo>
                  <a:pt x="0" y="65516"/>
                  <a:pt x="65516" y="0"/>
                  <a:pt x="146213" y="0"/>
                </a:cubicBezTo>
                <a:close/>
              </a:path>
            </a:pathLst>
          </a:custGeom>
          <a:solidFill>
            <a:srgbClr val="F1CB8F"/>
          </a:solidFill>
          <a:ln/>
        </p:spPr>
      </p:sp>
      <p:sp>
        <p:nvSpPr>
          <p:cNvPr id="14" name="Text 10"/>
          <p:cNvSpPr/>
          <p:nvPr/>
        </p:nvSpPr>
        <p:spPr>
          <a:xfrm>
            <a:off x="4818431" y="3032940"/>
            <a:ext cx="292425" cy="2924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404961" y="1474006"/>
            <a:ext cx="347886" cy="38471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404961" y="1474006"/>
            <a:ext cx="347886" cy="3847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-12893"/>
            <a:ext cx="9157807" cy="516919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-12893"/>
            <a:ext cx="9157807" cy="51691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44057" y="-12893"/>
            <a:ext cx="3213293" cy="507684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944057" y="-12893"/>
            <a:ext cx="3213293" cy="5076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sp>
        <p:nvSpPr>
          <p:cNvPr id="6" name="Shape 2"/>
          <p:cNvSpPr/>
          <p:nvPr/>
        </p:nvSpPr>
        <p:spPr>
          <a:xfrm>
            <a:off x="146304" y="128016"/>
            <a:ext cx="8833104" cy="4873752"/>
          </a:xfrm>
          <a:custGeom>
            <a:avLst/>
            <a:gdLst/>
            <a:ahLst/>
            <a:cxnLst/>
            <a:rect l="l" t="t" r="r" b="b"/>
            <a:pathLst>
              <a:path w="8833104" h="4873752">
                <a:moveTo>
                  <a:pt x="0" y="0"/>
                </a:moveTo>
                <a:lnTo>
                  <a:pt x="8833104" y="0"/>
                </a:lnTo>
                <a:lnTo>
                  <a:pt x="8833104" y="4873752"/>
                </a:lnTo>
                <a:lnTo>
                  <a:pt x="0" y="4873752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" name="Text 3"/>
          <p:cNvSpPr/>
          <p:nvPr/>
        </p:nvSpPr>
        <p:spPr>
          <a:xfrm>
            <a:off x="146304" y="128016"/>
            <a:ext cx="8833104" cy="4873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pic>
        <p:nvPicPr>
          <p:cNvPr id="8" name="Image 2" descr="https://static.yipigai.cn/public/muban/3/nr-2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6304" y="3127248"/>
            <a:ext cx="8833104" cy="2782519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308153" y="410017"/>
            <a:ext cx="158557" cy="158557"/>
          </a:xfrm>
          <a:custGeom>
            <a:avLst/>
            <a:gdLst/>
            <a:ahLst/>
            <a:cxnLst/>
            <a:rect l="l" t="t" r="r" b="b"/>
            <a:pathLst>
              <a:path w="158557" h="158557">
                <a:moveTo>
                  <a:pt x="79278" y="0"/>
                </a:moveTo>
                <a:cubicBezTo>
                  <a:pt x="123033" y="0"/>
                  <a:pt x="158557" y="35523"/>
                  <a:pt x="158557" y="79278"/>
                </a:cubicBezTo>
                <a:cubicBezTo>
                  <a:pt x="158557" y="123033"/>
                  <a:pt x="123033" y="158557"/>
                  <a:pt x="79278" y="158557"/>
                </a:cubicBezTo>
                <a:cubicBezTo>
                  <a:pt x="35523" y="158557"/>
                  <a:pt x="0" y="123033"/>
                  <a:pt x="0" y="79278"/>
                </a:cubicBezTo>
                <a:cubicBezTo>
                  <a:pt x="0" y="35523"/>
                  <a:pt x="35523" y="0"/>
                  <a:pt x="79278" y="0"/>
                </a:cubicBezTo>
                <a:close/>
              </a:path>
            </a:pathLst>
          </a:custGeom>
          <a:solidFill>
            <a:srgbClr val="427092"/>
          </a:solidFill>
          <a:ln/>
        </p:spPr>
      </p:sp>
      <p:sp>
        <p:nvSpPr>
          <p:cNvPr id="10" name="Text 5"/>
          <p:cNvSpPr/>
          <p:nvPr/>
        </p:nvSpPr>
        <p:spPr>
          <a:xfrm>
            <a:off x="308153" y="410017"/>
            <a:ext cx="158557" cy="1585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sp>
        <p:nvSpPr>
          <p:cNvPr id="11" name="Text 6"/>
          <p:cNvSpPr/>
          <p:nvPr/>
        </p:nvSpPr>
        <p:spPr>
          <a:xfrm>
            <a:off x="538124" y="237744"/>
            <a:ext cx="3413364" cy="4572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75"/>
              </a:spcBef>
              <a:buNone/>
            </a:pPr>
            <a:r>
              <a:rPr lang="en-US" sz="1800" b="1" dirty="0">
                <a:solidFill>
                  <a:srgbClr val="427092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2.1 转化率</a:t>
            </a:r>
            <a:endParaRPr lang="en-US" sz="22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969264"/>
            <a:ext cx="7863840" cy="375061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-12893"/>
            <a:ext cx="9157807" cy="516919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-12893"/>
            <a:ext cx="9157807" cy="51691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44057" y="-12893"/>
            <a:ext cx="3213293" cy="507684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944057" y="-12893"/>
            <a:ext cx="3213293" cy="5076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sp>
        <p:nvSpPr>
          <p:cNvPr id="6" name="Shape 2"/>
          <p:cNvSpPr/>
          <p:nvPr/>
        </p:nvSpPr>
        <p:spPr>
          <a:xfrm>
            <a:off x="146304" y="128016"/>
            <a:ext cx="8833104" cy="4873752"/>
          </a:xfrm>
          <a:custGeom>
            <a:avLst/>
            <a:gdLst/>
            <a:ahLst/>
            <a:cxnLst/>
            <a:rect l="l" t="t" r="r" b="b"/>
            <a:pathLst>
              <a:path w="8833104" h="4873752">
                <a:moveTo>
                  <a:pt x="0" y="0"/>
                </a:moveTo>
                <a:lnTo>
                  <a:pt x="8833104" y="0"/>
                </a:lnTo>
                <a:lnTo>
                  <a:pt x="8833104" y="4873752"/>
                </a:lnTo>
                <a:lnTo>
                  <a:pt x="0" y="4873752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" name="Text 3"/>
          <p:cNvSpPr/>
          <p:nvPr/>
        </p:nvSpPr>
        <p:spPr>
          <a:xfrm>
            <a:off x="146304" y="128016"/>
            <a:ext cx="8833104" cy="4873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pic>
        <p:nvPicPr>
          <p:cNvPr id="8" name="Image 2" descr="https://static.yipigai.cn/public/muban/3/nr-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6304" y="2779776"/>
            <a:ext cx="8833104" cy="2226564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308153" y="410017"/>
            <a:ext cx="158557" cy="158557"/>
          </a:xfrm>
          <a:custGeom>
            <a:avLst/>
            <a:gdLst/>
            <a:ahLst/>
            <a:cxnLst/>
            <a:rect l="l" t="t" r="r" b="b"/>
            <a:pathLst>
              <a:path w="158557" h="158557">
                <a:moveTo>
                  <a:pt x="79278" y="0"/>
                </a:moveTo>
                <a:cubicBezTo>
                  <a:pt x="123033" y="0"/>
                  <a:pt x="158557" y="35523"/>
                  <a:pt x="158557" y="79278"/>
                </a:cubicBezTo>
                <a:cubicBezTo>
                  <a:pt x="158557" y="123033"/>
                  <a:pt x="123033" y="158557"/>
                  <a:pt x="79278" y="158557"/>
                </a:cubicBezTo>
                <a:cubicBezTo>
                  <a:pt x="35523" y="158557"/>
                  <a:pt x="0" y="123033"/>
                  <a:pt x="0" y="79278"/>
                </a:cubicBezTo>
                <a:cubicBezTo>
                  <a:pt x="0" y="35523"/>
                  <a:pt x="35523" y="0"/>
                  <a:pt x="79278" y="0"/>
                </a:cubicBezTo>
                <a:close/>
              </a:path>
            </a:pathLst>
          </a:custGeom>
          <a:solidFill>
            <a:srgbClr val="427092"/>
          </a:solidFill>
          <a:ln/>
        </p:spPr>
      </p:sp>
      <p:sp>
        <p:nvSpPr>
          <p:cNvPr id="10" name="Text 5"/>
          <p:cNvSpPr/>
          <p:nvPr/>
        </p:nvSpPr>
        <p:spPr>
          <a:xfrm>
            <a:off x="308153" y="410017"/>
            <a:ext cx="158557" cy="1585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sp>
        <p:nvSpPr>
          <p:cNvPr id="11" name="Text 6"/>
          <p:cNvSpPr/>
          <p:nvPr/>
        </p:nvSpPr>
        <p:spPr>
          <a:xfrm>
            <a:off x="538124" y="237744"/>
            <a:ext cx="3413364" cy="4572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75"/>
              </a:spcBef>
              <a:buNone/>
            </a:pPr>
            <a:r>
              <a:rPr lang="en-US" sz="1800" b="1" dirty="0">
                <a:solidFill>
                  <a:srgbClr val="427092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2.1 转化率</a:t>
            </a:r>
            <a:endParaRPr lang="en-US" sz="2250" dirty="0"/>
          </a:p>
        </p:txBody>
      </p:sp>
      <p:sp>
        <p:nvSpPr>
          <p:cNvPr id="12" name="Text 7"/>
          <p:cNvSpPr/>
          <p:nvPr/>
        </p:nvSpPr>
        <p:spPr>
          <a:xfrm>
            <a:off x="640080" y="969264"/>
            <a:ext cx="7863840" cy="141732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225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的反应物，其转化率通常低于按化学计量比投料的反应物；若反应为可逆反应，达到平衡时的转化率为该条件下的最大转化率，升高温度或增大反应物浓度可能改变转化率数值。</a:t>
            </a:r>
            <a:endParaRPr lang="en-US" sz="2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-12893"/>
            <a:ext cx="9157807" cy="516919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-12893"/>
            <a:ext cx="9157807" cy="51691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44057" y="-12893"/>
            <a:ext cx="3213293" cy="507684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944057" y="-12893"/>
            <a:ext cx="3213293" cy="5076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sp>
        <p:nvSpPr>
          <p:cNvPr id="6" name="Shape 2"/>
          <p:cNvSpPr/>
          <p:nvPr/>
        </p:nvSpPr>
        <p:spPr>
          <a:xfrm>
            <a:off x="146304" y="128016"/>
            <a:ext cx="8833104" cy="4873752"/>
          </a:xfrm>
          <a:custGeom>
            <a:avLst/>
            <a:gdLst/>
            <a:ahLst/>
            <a:cxnLst/>
            <a:rect l="l" t="t" r="r" b="b"/>
            <a:pathLst>
              <a:path w="8833104" h="4873752">
                <a:moveTo>
                  <a:pt x="0" y="0"/>
                </a:moveTo>
                <a:lnTo>
                  <a:pt x="8833104" y="0"/>
                </a:lnTo>
                <a:lnTo>
                  <a:pt x="8833104" y="4873752"/>
                </a:lnTo>
                <a:lnTo>
                  <a:pt x="0" y="4873752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" name="Text 3"/>
          <p:cNvSpPr/>
          <p:nvPr/>
        </p:nvSpPr>
        <p:spPr>
          <a:xfrm>
            <a:off x="146304" y="128016"/>
            <a:ext cx="8833104" cy="4873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pic>
        <p:nvPicPr>
          <p:cNvPr id="8" name="Image 2" descr="https://static.yipigai.cn/public/muban/3/nr-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6304" y="2779776"/>
            <a:ext cx="8833104" cy="2226564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308153" y="410017"/>
            <a:ext cx="158557" cy="158557"/>
          </a:xfrm>
          <a:custGeom>
            <a:avLst/>
            <a:gdLst/>
            <a:ahLst/>
            <a:cxnLst/>
            <a:rect l="l" t="t" r="r" b="b"/>
            <a:pathLst>
              <a:path w="158557" h="158557">
                <a:moveTo>
                  <a:pt x="79278" y="0"/>
                </a:moveTo>
                <a:cubicBezTo>
                  <a:pt x="123033" y="0"/>
                  <a:pt x="158557" y="35523"/>
                  <a:pt x="158557" y="79278"/>
                </a:cubicBezTo>
                <a:cubicBezTo>
                  <a:pt x="158557" y="123033"/>
                  <a:pt x="123033" y="158557"/>
                  <a:pt x="79278" y="158557"/>
                </a:cubicBezTo>
                <a:cubicBezTo>
                  <a:pt x="35523" y="158557"/>
                  <a:pt x="0" y="123033"/>
                  <a:pt x="0" y="79278"/>
                </a:cubicBezTo>
                <a:cubicBezTo>
                  <a:pt x="0" y="35523"/>
                  <a:pt x="35523" y="0"/>
                  <a:pt x="79278" y="0"/>
                </a:cubicBezTo>
                <a:close/>
              </a:path>
            </a:pathLst>
          </a:custGeom>
          <a:solidFill>
            <a:srgbClr val="427092"/>
          </a:solidFill>
          <a:ln/>
        </p:spPr>
      </p:sp>
      <p:sp>
        <p:nvSpPr>
          <p:cNvPr id="10" name="Text 5"/>
          <p:cNvSpPr/>
          <p:nvPr/>
        </p:nvSpPr>
        <p:spPr>
          <a:xfrm>
            <a:off x="308153" y="410017"/>
            <a:ext cx="158557" cy="1585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sp>
        <p:nvSpPr>
          <p:cNvPr id="11" name="Text 6"/>
          <p:cNvSpPr/>
          <p:nvPr/>
        </p:nvSpPr>
        <p:spPr>
          <a:xfrm>
            <a:off x="538124" y="237744"/>
            <a:ext cx="3413364" cy="4572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75"/>
              </a:spcBef>
              <a:buNone/>
            </a:pPr>
            <a:r>
              <a:rPr lang="en-US" sz="1800" b="1" dirty="0">
                <a:solidFill>
                  <a:srgbClr val="427092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2.2 产率</a:t>
            </a:r>
            <a:endParaRPr lang="en-US" sz="22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969264"/>
            <a:ext cx="7863840" cy="372232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-12893"/>
            <a:ext cx="9157807" cy="516919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-12893"/>
            <a:ext cx="9157807" cy="51691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44057" y="-12893"/>
            <a:ext cx="3213293" cy="507684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944057" y="-12893"/>
            <a:ext cx="3213293" cy="5076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sp>
        <p:nvSpPr>
          <p:cNvPr id="6" name="Shape 2"/>
          <p:cNvSpPr/>
          <p:nvPr/>
        </p:nvSpPr>
        <p:spPr>
          <a:xfrm>
            <a:off x="146304" y="128016"/>
            <a:ext cx="8833104" cy="4873752"/>
          </a:xfrm>
          <a:custGeom>
            <a:avLst/>
            <a:gdLst/>
            <a:ahLst/>
            <a:cxnLst/>
            <a:rect l="l" t="t" r="r" b="b"/>
            <a:pathLst>
              <a:path w="8833104" h="4873752">
                <a:moveTo>
                  <a:pt x="0" y="0"/>
                </a:moveTo>
                <a:lnTo>
                  <a:pt x="8833104" y="0"/>
                </a:lnTo>
                <a:lnTo>
                  <a:pt x="8833104" y="4873752"/>
                </a:lnTo>
                <a:lnTo>
                  <a:pt x="0" y="4873752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" name="Text 3"/>
          <p:cNvSpPr/>
          <p:nvPr/>
        </p:nvSpPr>
        <p:spPr>
          <a:xfrm>
            <a:off x="146304" y="128016"/>
            <a:ext cx="8833104" cy="4873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pic>
        <p:nvPicPr>
          <p:cNvPr id="8" name="Image 2" descr="https://static.yipigai.cn/public/muban/3/nr-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6304" y="2779776"/>
            <a:ext cx="8833104" cy="2226564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308153" y="410017"/>
            <a:ext cx="158557" cy="158557"/>
          </a:xfrm>
          <a:custGeom>
            <a:avLst/>
            <a:gdLst/>
            <a:ahLst/>
            <a:cxnLst/>
            <a:rect l="l" t="t" r="r" b="b"/>
            <a:pathLst>
              <a:path w="158557" h="158557">
                <a:moveTo>
                  <a:pt x="79278" y="0"/>
                </a:moveTo>
                <a:cubicBezTo>
                  <a:pt x="123033" y="0"/>
                  <a:pt x="158557" y="35523"/>
                  <a:pt x="158557" y="79278"/>
                </a:cubicBezTo>
                <a:cubicBezTo>
                  <a:pt x="158557" y="123033"/>
                  <a:pt x="123033" y="158557"/>
                  <a:pt x="79278" y="158557"/>
                </a:cubicBezTo>
                <a:cubicBezTo>
                  <a:pt x="35523" y="158557"/>
                  <a:pt x="0" y="123033"/>
                  <a:pt x="0" y="79278"/>
                </a:cubicBezTo>
                <a:cubicBezTo>
                  <a:pt x="0" y="35523"/>
                  <a:pt x="35523" y="0"/>
                  <a:pt x="79278" y="0"/>
                </a:cubicBezTo>
                <a:close/>
              </a:path>
            </a:pathLst>
          </a:custGeom>
          <a:solidFill>
            <a:srgbClr val="427092"/>
          </a:solidFill>
          <a:ln/>
        </p:spPr>
      </p:sp>
      <p:sp>
        <p:nvSpPr>
          <p:cNvPr id="10" name="Text 5"/>
          <p:cNvSpPr/>
          <p:nvPr/>
        </p:nvSpPr>
        <p:spPr>
          <a:xfrm>
            <a:off x="308153" y="410017"/>
            <a:ext cx="158557" cy="1585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sp>
        <p:nvSpPr>
          <p:cNvPr id="11" name="Text 6"/>
          <p:cNvSpPr/>
          <p:nvPr/>
        </p:nvSpPr>
        <p:spPr>
          <a:xfrm>
            <a:off x="538124" y="237744"/>
            <a:ext cx="3413364" cy="4572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75"/>
              </a:spcBef>
              <a:buNone/>
            </a:pPr>
            <a:r>
              <a:rPr lang="en-US" sz="1800" b="1" dirty="0">
                <a:solidFill>
                  <a:srgbClr val="427092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2.2 产率</a:t>
            </a:r>
            <a:endParaRPr lang="en-US" sz="2250" dirty="0"/>
          </a:p>
        </p:txBody>
      </p:sp>
      <p:sp>
        <p:nvSpPr>
          <p:cNvPr id="12" name="Text 7"/>
          <p:cNvSpPr/>
          <p:nvPr/>
        </p:nvSpPr>
        <p:spPr>
          <a:xfrm>
            <a:off x="640080" y="969264"/>
            <a:ext cx="7863840" cy="141732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225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由于反应过程中可能存在副反应、反应物不完全转化、产物过程中损失等情况，实际产率通常小于100%，只有在极少数定量反应中可能接近100%。</a:t>
            </a:r>
            <a:endParaRPr lang="en-US" sz="2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-12893"/>
            <a:ext cx="9157807" cy="516919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-12893"/>
            <a:ext cx="9157807" cy="51691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44057" y="-12893"/>
            <a:ext cx="3213293" cy="507684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944057" y="-12893"/>
            <a:ext cx="3213293" cy="5076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sp>
        <p:nvSpPr>
          <p:cNvPr id="6" name="Shape 2"/>
          <p:cNvSpPr/>
          <p:nvPr/>
        </p:nvSpPr>
        <p:spPr>
          <a:xfrm>
            <a:off x="146304" y="128016"/>
            <a:ext cx="8833104" cy="4873752"/>
          </a:xfrm>
          <a:custGeom>
            <a:avLst/>
            <a:gdLst/>
            <a:ahLst/>
            <a:cxnLst/>
            <a:rect l="l" t="t" r="r" b="b"/>
            <a:pathLst>
              <a:path w="8833104" h="4873752">
                <a:moveTo>
                  <a:pt x="0" y="0"/>
                </a:moveTo>
                <a:lnTo>
                  <a:pt x="8833104" y="0"/>
                </a:lnTo>
                <a:lnTo>
                  <a:pt x="8833104" y="4873752"/>
                </a:lnTo>
                <a:lnTo>
                  <a:pt x="0" y="4873752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" name="Text 3"/>
          <p:cNvSpPr/>
          <p:nvPr/>
        </p:nvSpPr>
        <p:spPr>
          <a:xfrm>
            <a:off x="146304" y="128016"/>
            <a:ext cx="8833104" cy="4873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pic>
        <p:nvPicPr>
          <p:cNvPr id="8" name="Image 2" descr="https://static.yipigai.cn/public/muban/3/nr-2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6304" y="3127248"/>
            <a:ext cx="8833104" cy="2782519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308153" y="410017"/>
            <a:ext cx="158557" cy="158557"/>
          </a:xfrm>
          <a:custGeom>
            <a:avLst/>
            <a:gdLst/>
            <a:ahLst/>
            <a:cxnLst/>
            <a:rect l="l" t="t" r="r" b="b"/>
            <a:pathLst>
              <a:path w="158557" h="158557">
                <a:moveTo>
                  <a:pt x="79278" y="0"/>
                </a:moveTo>
                <a:cubicBezTo>
                  <a:pt x="123033" y="0"/>
                  <a:pt x="158557" y="35523"/>
                  <a:pt x="158557" y="79278"/>
                </a:cubicBezTo>
                <a:cubicBezTo>
                  <a:pt x="158557" y="123033"/>
                  <a:pt x="123033" y="158557"/>
                  <a:pt x="79278" y="158557"/>
                </a:cubicBezTo>
                <a:cubicBezTo>
                  <a:pt x="35523" y="158557"/>
                  <a:pt x="0" y="123033"/>
                  <a:pt x="0" y="79278"/>
                </a:cubicBezTo>
                <a:cubicBezTo>
                  <a:pt x="0" y="35523"/>
                  <a:pt x="35523" y="0"/>
                  <a:pt x="79278" y="0"/>
                </a:cubicBezTo>
                <a:close/>
              </a:path>
            </a:pathLst>
          </a:custGeom>
          <a:solidFill>
            <a:srgbClr val="427092"/>
          </a:solidFill>
          <a:ln/>
        </p:spPr>
      </p:sp>
      <p:sp>
        <p:nvSpPr>
          <p:cNvPr id="10" name="Text 5"/>
          <p:cNvSpPr/>
          <p:nvPr/>
        </p:nvSpPr>
        <p:spPr>
          <a:xfrm>
            <a:off x="308153" y="410017"/>
            <a:ext cx="158557" cy="1585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sp>
        <p:nvSpPr>
          <p:cNvPr id="11" name="Text 6"/>
          <p:cNvSpPr/>
          <p:nvPr/>
        </p:nvSpPr>
        <p:spPr>
          <a:xfrm>
            <a:off x="538124" y="237744"/>
            <a:ext cx="3413364" cy="4572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75"/>
              </a:spcBef>
              <a:buNone/>
            </a:pPr>
            <a:r>
              <a:rPr lang="en-US" sz="1800" b="1" dirty="0">
                <a:solidFill>
                  <a:srgbClr val="427092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2.3 原子利用率</a:t>
            </a:r>
            <a:endParaRPr lang="en-US" sz="22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969264"/>
            <a:ext cx="7863840" cy="289936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-12893"/>
            <a:ext cx="9157807" cy="516919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-12893"/>
            <a:ext cx="9157807" cy="51691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44057" y="-12893"/>
            <a:ext cx="3213293" cy="507684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944057" y="-12893"/>
            <a:ext cx="3213293" cy="5076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sp>
        <p:nvSpPr>
          <p:cNvPr id="6" name="Shape 2"/>
          <p:cNvSpPr/>
          <p:nvPr/>
        </p:nvSpPr>
        <p:spPr>
          <a:xfrm>
            <a:off x="146304" y="128016"/>
            <a:ext cx="8833104" cy="4873752"/>
          </a:xfrm>
          <a:custGeom>
            <a:avLst/>
            <a:gdLst/>
            <a:ahLst/>
            <a:cxnLst/>
            <a:rect l="l" t="t" r="r" b="b"/>
            <a:pathLst>
              <a:path w="8833104" h="4873752">
                <a:moveTo>
                  <a:pt x="0" y="0"/>
                </a:moveTo>
                <a:lnTo>
                  <a:pt x="8833104" y="0"/>
                </a:lnTo>
                <a:lnTo>
                  <a:pt x="8833104" y="4873752"/>
                </a:lnTo>
                <a:lnTo>
                  <a:pt x="0" y="4873752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" name="Text 3"/>
          <p:cNvSpPr/>
          <p:nvPr/>
        </p:nvSpPr>
        <p:spPr>
          <a:xfrm>
            <a:off x="146304" y="128016"/>
            <a:ext cx="8833104" cy="4873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pic>
        <p:nvPicPr>
          <p:cNvPr id="8" name="Image 2" descr="https://static.yipigai.cn/public/muban/3/nr-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6304" y="2779776"/>
            <a:ext cx="8833104" cy="2226564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308153" y="410017"/>
            <a:ext cx="158557" cy="158557"/>
          </a:xfrm>
          <a:custGeom>
            <a:avLst/>
            <a:gdLst/>
            <a:ahLst/>
            <a:cxnLst/>
            <a:rect l="l" t="t" r="r" b="b"/>
            <a:pathLst>
              <a:path w="158557" h="158557">
                <a:moveTo>
                  <a:pt x="79278" y="0"/>
                </a:moveTo>
                <a:cubicBezTo>
                  <a:pt x="123033" y="0"/>
                  <a:pt x="158557" y="35523"/>
                  <a:pt x="158557" y="79278"/>
                </a:cubicBezTo>
                <a:cubicBezTo>
                  <a:pt x="158557" y="123033"/>
                  <a:pt x="123033" y="158557"/>
                  <a:pt x="79278" y="158557"/>
                </a:cubicBezTo>
                <a:cubicBezTo>
                  <a:pt x="35523" y="158557"/>
                  <a:pt x="0" y="123033"/>
                  <a:pt x="0" y="79278"/>
                </a:cubicBezTo>
                <a:cubicBezTo>
                  <a:pt x="0" y="35523"/>
                  <a:pt x="35523" y="0"/>
                  <a:pt x="79278" y="0"/>
                </a:cubicBezTo>
                <a:close/>
              </a:path>
            </a:pathLst>
          </a:custGeom>
          <a:solidFill>
            <a:srgbClr val="427092"/>
          </a:solidFill>
          <a:ln/>
        </p:spPr>
      </p:sp>
      <p:sp>
        <p:nvSpPr>
          <p:cNvPr id="10" name="Text 5"/>
          <p:cNvSpPr/>
          <p:nvPr/>
        </p:nvSpPr>
        <p:spPr>
          <a:xfrm>
            <a:off x="308153" y="410017"/>
            <a:ext cx="158557" cy="1585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sp>
        <p:nvSpPr>
          <p:cNvPr id="11" name="Text 6"/>
          <p:cNvSpPr/>
          <p:nvPr/>
        </p:nvSpPr>
        <p:spPr>
          <a:xfrm>
            <a:off x="538124" y="237744"/>
            <a:ext cx="3413364" cy="4572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75"/>
              </a:spcBef>
              <a:buNone/>
            </a:pPr>
            <a:r>
              <a:rPr lang="en-US" sz="1800" b="1" dirty="0">
                <a:solidFill>
                  <a:srgbClr val="427092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2.3 原子利用率</a:t>
            </a:r>
            <a:endParaRPr lang="en-US" sz="2250" dirty="0"/>
          </a:p>
        </p:txBody>
      </p:sp>
      <p:sp>
        <p:nvSpPr>
          <p:cNvPr id="12" name="Text 7"/>
          <p:cNvSpPr/>
          <p:nvPr/>
        </p:nvSpPr>
        <p:spPr>
          <a:xfrm>
            <a:off x="640080" y="969264"/>
            <a:ext cx="7863840" cy="141732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225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生成，此时原子利用率为100%；对于有副产物生成的反应，原子利用率通常低于100%。原子利用率越高，反应过程中产生的废弃物越少，越符合绿色化学的要求。</a:t>
            </a:r>
            <a:endParaRPr lang="en-US" sz="2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-12893"/>
            <a:ext cx="9157807" cy="516919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-12893"/>
            <a:ext cx="9157807" cy="51691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44057" y="-12893"/>
            <a:ext cx="3213293" cy="507684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944057" y="-12893"/>
            <a:ext cx="3213293" cy="5076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sp>
        <p:nvSpPr>
          <p:cNvPr id="6" name="Shape 2"/>
          <p:cNvSpPr/>
          <p:nvPr/>
        </p:nvSpPr>
        <p:spPr>
          <a:xfrm>
            <a:off x="153619" y="132679"/>
            <a:ext cx="8836853" cy="4878233"/>
          </a:xfrm>
          <a:custGeom>
            <a:avLst/>
            <a:gdLst/>
            <a:ahLst/>
            <a:cxnLst/>
            <a:rect l="l" t="t" r="r" b="b"/>
            <a:pathLst>
              <a:path w="8836853" h="4878233">
                <a:moveTo>
                  <a:pt x="0" y="0"/>
                </a:moveTo>
                <a:lnTo>
                  <a:pt x="8836853" y="0"/>
                </a:lnTo>
                <a:lnTo>
                  <a:pt x="8836853" y="4878233"/>
                </a:lnTo>
                <a:lnTo>
                  <a:pt x="0" y="4878233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" name="Text 3"/>
          <p:cNvSpPr/>
          <p:nvPr/>
        </p:nvSpPr>
        <p:spPr>
          <a:xfrm>
            <a:off x="153619" y="132679"/>
            <a:ext cx="8836853" cy="487823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sp>
        <p:nvSpPr>
          <p:cNvPr id="8" name="Text 4"/>
          <p:cNvSpPr/>
          <p:nvPr/>
        </p:nvSpPr>
        <p:spPr>
          <a:xfrm>
            <a:off x="2544242" y="2084556"/>
            <a:ext cx="4361657" cy="63093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algn="ctr" indent="0" marL="0">
              <a:lnSpc>
                <a:spcPct val="80000"/>
              </a:lnSpc>
              <a:spcBef>
                <a:spcPts val="375"/>
              </a:spcBef>
              <a:buNone/>
            </a:pPr>
            <a:r>
              <a:rPr lang="en-US" sz="3675" dirty="0">
                <a:solidFill>
                  <a:srgbClr val="427092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3 基本性质</a:t>
            </a:r>
            <a:endParaRPr lang="en-US" sz="2250" dirty="0"/>
          </a:p>
        </p:txBody>
      </p:sp>
      <p:sp>
        <p:nvSpPr>
          <p:cNvPr id="9" name="Shape 5"/>
          <p:cNvSpPr/>
          <p:nvPr/>
        </p:nvSpPr>
        <p:spPr>
          <a:xfrm>
            <a:off x="4046952" y="3032940"/>
            <a:ext cx="292425" cy="292425"/>
          </a:xfrm>
          <a:custGeom>
            <a:avLst/>
            <a:gdLst/>
            <a:ahLst/>
            <a:cxnLst/>
            <a:rect l="l" t="t" r="r" b="b"/>
            <a:pathLst>
              <a:path w="292425" h="292425">
                <a:moveTo>
                  <a:pt x="146213" y="0"/>
                </a:moveTo>
                <a:cubicBezTo>
                  <a:pt x="226909" y="0"/>
                  <a:pt x="292425" y="65516"/>
                  <a:pt x="292425" y="146213"/>
                </a:cubicBezTo>
                <a:cubicBezTo>
                  <a:pt x="292425" y="226909"/>
                  <a:pt x="226909" y="292425"/>
                  <a:pt x="146213" y="292425"/>
                </a:cubicBezTo>
                <a:cubicBezTo>
                  <a:pt x="65516" y="292425"/>
                  <a:pt x="0" y="226909"/>
                  <a:pt x="0" y="146213"/>
                </a:cubicBezTo>
                <a:cubicBezTo>
                  <a:pt x="0" y="65516"/>
                  <a:pt x="65516" y="0"/>
                  <a:pt x="146213" y="0"/>
                </a:cubicBezTo>
                <a:close/>
              </a:path>
            </a:pathLst>
          </a:custGeom>
          <a:solidFill>
            <a:srgbClr val="F1CB8F"/>
          </a:solidFill>
          <a:ln/>
        </p:spPr>
      </p:sp>
      <p:sp>
        <p:nvSpPr>
          <p:cNvPr id="10" name="Text 6"/>
          <p:cNvSpPr/>
          <p:nvPr/>
        </p:nvSpPr>
        <p:spPr>
          <a:xfrm>
            <a:off x="4046952" y="3032940"/>
            <a:ext cx="292425" cy="2924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sp>
        <p:nvSpPr>
          <p:cNvPr id="11" name="Shape 7"/>
          <p:cNvSpPr/>
          <p:nvPr/>
        </p:nvSpPr>
        <p:spPr>
          <a:xfrm>
            <a:off x="4432645" y="3032940"/>
            <a:ext cx="292425" cy="292425"/>
          </a:xfrm>
          <a:custGeom>
            <a:avLst/>
            <a:gdLst/>
            <a:ahLst/>
            <a:cxnLst/>
            <a:rect l="l" t="t" r="r" b="b"/>
            <a:pathLst>
              <a:path w="292425" h="292425">
                <a:moveTo>
                  <a:pt x="146213" y="0"/>
                </a:moveTo>
                <a:cubicBezTo>
                  <a:pt x="226909" y="0"/>
                  <a:pt x="292425" y="65516"/>
                  <a:pt x="292425" y="146213"/>
                </a:cubicBezTo>
                <a:cubicBezTo>
                  <a:pt x="292425" y="226909"/>
                  <a:pt x="226909" y="292425"/>
                  <a:pt x="146213" y="292425"/>
                </a:cubicBezTo>
                <a:cubicBezTo>
                  <a:pt x="65516" y="292425"/>
                  <a:pt x="0" y="226909"/>
                  <a:pt x="0" y="146213"/>
                </a:cubicBezTo>
                <a:cubicBezTo>
                  <a:pt x="0" y="65516"/>
                  <a:pt x="65516" y="0"/>
                  <a:pt x="146213" y="0"/>
                </a:cubicBezTo>
                <a:close/>
              </a:path>
            </a:pathLst>
          </a:custGeom>
          <a:solidFill>
            <a:srgbClr val="427092"/>
          </a:solidFill>
          <a:ln/>
        </p:spPr>
      </p:sp>
      <p:sp>
        <p:nvSpPr>
          <p:cNvPr id="12" name="Text 8"/>
          <p:cNvSpPr/>
          <p:nvPr/>
        </p:nvSpPr>
        <p:spPr>
          <a:xfrm>
            <a:off x="4432645" y="3032940"/>
            <a:ext cx="292425" cy="2924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sp>
        <p:nvSpPr>
          <p:cNvPr id="13" name="Shape 9"/>
          <p:cNvSpPr/>
          <p:nvPr/>
        </p:nvSpPr>
        <p:spPr>
          <a:xfrm>
            <a:off x="4818431" y="3032940"/>
            <a:ext cx="292425" cy="292425"/>
          </a:xfrm>
          <a:custGeom>
            <a:avLst/>
            <a:gdLst/>
            <a:ahLst/>
            <a:cxnLst/>
            <a:rect l="l" t="t" r="r" b="b"/>
            <a:pathLst>
              <a:path w="292425" h="292425">
                <a:moveTo>
                  <a:pt x="146213" y="0"/>
                </a:moveTo>
                <a:cubicBezTo>
                  <a:pt x="226909" y="0"/>
                  <a:pt x="292425" y="65516"/>
                  <a:pt x="292425" y="146213"/>
                </a:cubicBezTo>
                <a:cubicBezTo>
                  <a:pt x="292425" y="226909"/>
                  <a:pt x="226909" y="292425"/>
                  <a:pt x="146213" y="292425"/>
                </a:cubicBezTo>
                <a:cubicBezTo>
                  <a:pt x="65516" y="292425"/>
                  <a:pt x="0" y="226909"/>
                  <a:pt x="0" y="146213"/>
                </a:cubicBezTo>
                <a:cubicBezTo>
                  <a:pt x="0" y="65516"/>
                  <a:pt x="65516" y="0"/>
                  <a:pt x="146213" y="0"/>
                </a:cubicBezTo>
                <a:close/>
              </a:path>
            </a:pathLst>
          </a:custGeom>
          <a:solidFill>
            <a:srgbClr val="F1CB8F"/>
          </a:solidFill>
          <a:ln/>
        </p:spPr>
      </p:sp>
      <p:sp>
        <p:nvSpPr>
          <p:cNvPr id="14" name="Text 10"/>
          <p:cNvSpPr/>
          <p:nvPr/>
        </p:nvSpPr>
        <p:spPr>
          <a:xfrm>
            <a:off x="4818431" y="3032940"/>
            <a:ext cx="292425" cy="2924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404961" y="1474006"/>
            <a:ext cx="347886" cy="38471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404961" y="1474006"/>
            <a:ext cx="347886" cy="3847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sp>
        <p:nvSpPr>
          <p:cNvPr id="17" name="Text 12"/>
          <p:cNvSpPr/>
          <p:nvPr/>
        </p:nvSpPr>
        <p:spPr>
          <a:xfrm>
            <a:off x="0" y="0"/>
            <a:ext cx="2743200" cy="100584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2250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思源黑体 CN" pitchFamily="34" charset="0"/>
                <a:ea typeface="思源黑体 CN" pitchFamily="34" charset="-122"/>
                <a:cs typeface="思源黑体 CN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【时代少年团】发发发发发财摇-舞蹈</a:t>
            </a:r>
            <a:endParaRPr lang="en-US" sz="2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-12893"/>
            <a:ext cx="9157807" cy="516919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-12893"/>
            <a:ext cx="9157807" cy="51691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44057" y="-12893"/>
            <a:ext cx="3213293" cy="507684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944057" y="-12893"/>
            <a:ext cx="3213293" cy="5076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sp>
        <p:nvSpPr>
          <p:cNvPr id="6" name="Shape 2"/>
          <p:cNvSpPr/>
          <p:nvPr/>
        </p:nvSpPr>
        <p:spPr>
          <a:xfrm>
            <a:off x="146304" y="128016"/>
            <a:ext cx="8833104" cy="4873752"/>
          </a:xfrm>
          <a:custGeom>
            <a:avLst/>
            <a:gdLst/>
            <a:ahLst/>
            <a:cxnLst/>
            <a:rect l="l" t="t" r="r" b="b"/>
            <a:pathLst>
              <a:path w="8833104" h="4873752">
                <a:moveTo>
                  <a:pt x="0" y="0"/>
                </a:moveTo>
                <a:lnTo>
                  <a:pt x="8833104" y="0"/>
                </a:lnTo>
                <a:lnTo>
                  <a:pt x="8833104" y="4873752"/>
                </a:lnTo>
                <a:lnTo>
                  <a:pt x="0" y="4873752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" name="Text 3"/>
          <p:cNvSpPr/>
          <p:nvPr/>
        </p:nvSpPr>
        <p:spPr>
          <a:xfrm>
            <a:off x="146304" y="128016"/>
            <a:ext cx="8833104" cy="4873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pic>
        <p:nvPicPr>
          <p:cNvPr id="8" name="Image 2" descr="https://static.yipigai.cn/public/muban/3/nr-2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6304" y="3127248"/>
            <a:ext cx="8833104" cy="2782519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308153" y="410017"/>
            <a:ext cx="158557" cy="158557"/>
          </a:xfrm>
          <a:custGeom>
            <a:avLst/>
            <a:gdLst/>
            <a:ahLst/>
            <a:cxnLst/>
            <a:rect l="l" t="t" r="r" b="b"/>
            <a:pathLst>
              <a:path w="158557" h="158557">
                <a:moveTo>
                  <a:pt x="79278" y="0"/>
                </a:moveTo>
                <a:cubicBezTo>
                  <a:pt x="123033" y="0"/>
                  <a:pt x="158557" y="35523"/>
                  <a:pt x="158557" y="79278"/>
                </a:cubicBezTo>
                <a:cubicBezTo>
                  <a:pt x="158557" y="123033"/>
                  <a:pt x="123033" y="158557"/>
                  <a:pt x="79278" y="158557"/>
                </a:cubicBezTo>
                <a:cubicBezTo>
                  <a:pt x="35523" y="158557"/>
                  <a:pt x="0" y="123033"/>
                  <a:pt x="0" y="79278"/>
                </a:cubicBezTo>
                <a:cubicBezTo>
                  <a:pt x="0" y="35523"/>
                  <a:pt x="35523" y="0"/>
                  <a:pt x="79278" y="0"/>
                </a:cubicBezTo>
                <a:close/>
              </a:path>
            </a:pathLst>
          </a:custGeom>
          <a:solidFill>
            <a:srgbClr val="427092"/>
          </a:solidFill>
          <a:ln/>
        </p:spPr>
      </p:sp>
      <p:sp>
        <p:nvSpPr>
          <p:cNvPr id="10" name="Text 5"/>
          <p:cNvSpPr/>
          <p:nvPr/>
        </p:nvSpPr>
        <p:spPr>
          <a:xfrm>
            <a:off x="308153" y="410017"/>
            <a:ext cx="158557" cy="1585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sp>
        <p:nvSpPr>
          <p:cNvPr id="11" name="Text 6"/>
          <p:cNvSpPr/>
          <p:nvPr/>
        </p:nvSpPr>
        <p:spPr>
          <a:xfrm>
            <a:off x="538124" y="237744"/>
            <a:ext cx="3413364" cy="4572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75"/>
              </a:spcBef>
              <a:buNone/>
            </a:pPr>
            <a:r>
              <a:rPr lang="en-US" sz="1800" b="1" dirty="0">
                <a:solidFill>
                  <a:srgbClr val="427092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3.1 数值关系</a:t>
            </a:r>
            <a:endParaRPr lang="en-US" sz="22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969264"/>
            <a:ext cx="7863840" cy="359444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-12893"/>
            <a:ext cx="9157807" cy="516919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-12893"/>
            <a:ext cx="9157807" cy="51691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44057" y="-12893"/>
            <a:ext cx="3213293" cy="507684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944057" y="-12893"/>
            <a:ext cx="3213293" cy="5076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sp>
        <p:nvSpPr>
          <p:cNvPr id="6" name="Shape 2"/>
          <p:cNvSpPr/>
          <p:nvPr/>
        </p:nvSpPr>
        <p:spPr>
          <a:xfrm>
            <a:off x="146304" y="128016"/>
            <a:ext cx="8833104" cy="4873752"/>
          </a:xfrm>
          <a:custGeom>
            <a:avLst/>
            <a:gdLst/>
            <a:ahLst/>
            <a:cxnLst/>
            <a:rect l="l" t="t" r="r" b="b"/>
            <a:pathLst>
              <a:path w="8833104" h="4873752">
                <a:moveTo>
                  <a:pt x="0" y="0"/>
                </a:moveTo>
                <a:lnTo>
                  <a:pt x="8833104" y="0"/>
                </a:lnTo>
                <a:lnTo>
                  <a:pt x="8833104" y="4873752"/>
                </a:lnTo>
                <a:lnTo>
                  <a:pt x="0" y="4873752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" name="Text 3"/>
          <p:cNvSpPr/>
          <p:nvPr/>
        </p:nvSpPr>
        <p:spPr>
          <a:xfrm>
            <a:off x="146304" y="128016"/>
            <a:ext cx="8833104" cy="4873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pic>
        <p:nvPicPr>
          <p:cNvPr id="8" name="Image 2" descr="https://static.yipigai.cn/public/muban/3/nr-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6304" y="2779776"/>
            <a:ext cx="8833104" cy="222656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0" y="0"/>
            <a:ext cx="2743200" cy="141732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2250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思源黑体 CN" pitchFamily="34" charset="0"/>
                <a:ea typeface="思源黑体 CN" pitchFamily="34" charset="-122"/>
                <a:cs typeface="思源黑体 CN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西安芹芹广场舞 热舞热舞《2026发发发》编舞 珍珍珍</a:t>
            </a:r>
            <a:endParaRPr lang="en-US" sz="2250" dirty="0"/>
          </a:p>
        </p:txBody>
      </p:sp>
      <p:sp>
        <p:nvSpPr>
          <p:cNvPr id="10" name="Shape 5"/>
          <p:cNvSpPr/>
          <p:nvPr/>
        </p:nvSpPr>
        <p:spPr>
          <a:xfrm>
            <a:off x="308153" y="410017"/>
            <a:ext cx="158557" cy="158557"/>
          </a:xfrm>
          <a:custGeom>
            <a:avLst/>
            <a:gdLst/>
            <a:ahLst/>
            <a:cxnLst/>
            <a:rect l="l" t="t" r="r" b="b"/>
            <a:pathLst>
              <a:path w="158557" h="158557">
                <a:moveTo>
                  <a:pt x="79278" y="0"/>
                </a:moveTo>
                <a:cubicBezTo>
                  <a:pt x="123033" y="0"/>
                  <a:pt x="158557" y="35523"/>
                  <a:pt x="158557" y="79278"/>
                </a:cubicBezTo>
                <a:cubicBezTo>
                  <a:pt x="158557" y="123033"/>
                  <a:pt x="123033" y="158557"/>
                  <a:pt x="79278" y="158557"/>
                </a:cubicBezTo>
                <a:cubicBezTo>
                  <a:pt x="35523" y="158557"/>
                  <a:pt x="0" y="123033"/>
                  <a:pt x="0" y="79278"/>
                </a:cubicBezTo>
                <a:cubicBezTo>
                  <a:pt x="0" y="35523"/>
                  <a:pt x="35523" y="0"/>
                  <a:pt x="79278" y="0"/>
                </a:cubicBezTo>
                <a:close/>
              </a:path>
            </a:pathLst>
          </a:custGeom>
          <a:solidFill>
            <a:srgbClr val="427092"/>
          </a:solidFill>
          <a:ln/>
        </p:spPr>
      </p:sp>
      <p:sp>
        <p:nvSpPr>
          <p:cNvPr id="11" name="Text 6"/>
          <p:cNvSpPr/>
          <p:nvPr/>
        </p:nvSpPr>
        <p:spPr>
          <a:xfrm>
            <a:off x="308153" y="410017"/>
            <a:ext cx="158557" cy="1585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sp>
        <p:nvSpPr>
          <p:cNvPr id="12" name="Text 7"/>
          <p:cNvSpPr/>
          <p:nvPr/>
        </p:nvSpPr>
        <p:spPr>
          <a:xfrm>
            <a:off x="538124" y="237744"/>
            <a:ext cx="3413364" cy="4572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75"/>
              </a:spcBef>
              <a:buNone/>
            </a:pPr>
            <a:r>
              <a:rPr lang="en-US" sz="1800" b="1" dirty="0">
                <a:solidFill>
                  <a:srgbClr val="427092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3.1 数值关系</a:t>
            </a:r>
            <a:endParaRPr lang="en-US" sz="2250" dirty="0"/>
          </a:p>
        </p:txBody>
      </p:sp>
      <p:sp>
        <p:nvSpPr>
          <p:cNvPr id="13" name="Text 8"/>
          <p:cNvSpPr/>
          <p:nvPr/>
        </p:nvSpPr>
        <p:spPr>
          <a:xfrm>
            <a:off x="640080" y="969264"/>
            <a:ext cx="7863840" cy="141732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225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4. 同一反应中，不同反应物的转化率可能不同，与初始比、反应的计量系数相关；同一反应中不同产物的产率也可能不同，与反应的选择性相关。</a:t>
            </a:r>
            <a:endParaRPr lang="en-US" sz="2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-12893"/>
            <a:ext cx="9157807" cy="516919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-12893"/>
            <a:ext cx="9157807" cy="51691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44057" y="-12893"/>
            <a:ext cx="3213293" cy="507684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944057" y="-12893"/>
            <a:ext cx="3213293" cy="5076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sp>
        <p:nvSpPr>
          <p:cNvPr id="6" name="Shape 2"/>
          <p:cNvSpPr/>
          <p:nvPr/>
        </p:nvSpPr>
        <p:spPr>
          <a:xfrm>
            <a:off x="146304" y="128016"/>
            <a:ext cx="8833104" cy="4873752"/>
          </a:xfrm>
          <a:custGeom>
            <a:avLst/>
            <a:gdLst/>
            <a:ahLst/>
            <a:cxnLst/>
            <a:rect l="l" t="t" r="r" b="b"/>
            <a:pathLst>
              <a:path w="8833104" h="4873752">
                <a:moveTo>
                  <a:pt x="0" y="0"/>
                </a:moveTo>
                <a:lnTo>
                  <a:pt x="8833104" y="0"/>
                </a:lnTo>
                <a:lnTo>
                  <a:pt x="8833104" y="4873752"/>
                </a:lnTo>
                <a:lnTo>
                  <a:pt x="0" y="4873752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" name="Text 3"/>
          <p:cNvSpPr/>
          <p:nvPr/>
        </p:nvSpPr>
        <p:spPr>
          <a:xfrm>
            <a:off x="146304" y="128016"/>
            <a:ext cx="8833104" cy="4873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pic>
        <p:nvPicPr>
          <p:cNvPr id="8" name="Image 2" descr="https://static.yipigai.cn/public/muban/3/nr-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6304" y="2779776"/>
            <a:ext cx="8833104" cy="2226564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308153" y="410017"/>
            <a:ext cx="158557" cy="158557"/>
          </a:xfrm>
          <a:custGeom>
            <a:avLst/>
            <a:gdLst/>
            <a:ahLst/>
            <a:cxnLst/>
            <a:rect l="l" t="t" r="r" b="b"/>
            <a:pathLst>
              <a:path w="158557" h="158557">
                <a:moveTo>
                  <a:pt x="79278" y="0"/>
                </a:moveTo>
                <a:cubicBezTo>
                  <a:pt x="123033" y="0"/>
                  <a:pt x="158557" y="35523"/>
                  <a:pt x="158557" y="79278"/>
                </a:cubicBezTo>
                <a:cubicBezTo>
                  <a:pt x="158557" y="123033"/>
                  <a:pt x="123033" y="158557"/>
                  <a:pt x="79278" y="158557"/>
                </a:cubicBezTo>
                <a:cubicBezTo>
                  <a:pt x="35523" y="158557"/>
                  <a:pt x="0" y="123033"/>
                  <a:pt x="0" y="79278"/>
                </a:cubicBezTo>
                <a:cubicBezTo>
                  <a:pt x="0" y="35523"/>
                  <a:pt x="35523" y="0"/>
                  <a:pt x="79278" y="0"/>
                </a:cubicBezTo>
                <a:close/>
              </a:path>
            </a:pathLst>
          </a:custGeom>
          <a:solidFill>
            <a:srgbClr val="427092"/>
          </a:solidFill>
          <a:ln/>
        </p:spPr>
      </p:sp>
      <p:sp>
        <p:nvSpPr>
          <p:cNvPr id="10" name="Text 5"/>
          <p:cNvSpPr/>
          <p:nvPr/>
        </p:nvSpPr>
        <p:spPr>
          <a:xfrm>
            <a:off x="308153" y="410017"/>
            <a:ext cx="158557" cy="1585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sp>
        <p:nvSpPr>
          <p:cNvPr id="11" name="Text 6"/>
          <p:cNvSpPr/>
          <p:nvPr/>
        </p:nvSpPr>
        <p:spPr>
          <a:xfrm>
            <a:off x="538124" y="237744"/>
            <a:ext cx="3413364" cy="4572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75"/>
              </a:spcBef>
              <a:buNone/>
            </a:pPr>
            <a:r>
              <a:rPr lang="en-US" sz="1800" b="1" dirty="0">
                <a:solidFill>
                  <a:srgbClr val="427092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3.2 影响因素</a:t>
            </a:r>
            <a:endParaRPr lang="en-US" sz="2250" dirty="0"/>
          </a:p>
        </p:txBody>
      </p:sp>
      <p:sp>
        <p:nvSpPr>
          <p:cNvPr id="12" name="Text 7"/>
          <p:cNvSpPr/>
          <p:nvPr/>
        </p:nvSpPr>
        <p:spPr>
          <a:xfrm>
            <a:off x="640080" y="969264"/>
            <a:ext cx="7863840" cy="35661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225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1. 反应本身的性质：可逆反应的平衡转化率限制了产率的上限，存在大量副反应的反应选择性低，产率通常较低；</a:t>
            </a:r>
            <a:endParaRPr lang="en-US" sz="2250" dirty="0"/>
          </a:p>
          <a:p>
            <a:pPr indent="0" marL="0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225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2. 反应条件：温度、压强、催化剂、反应物浓度等条件会影响反应的平衡状态和反应速率，进而改变转化率和产率；对于吸热反应，升高温度通常会提升平衡转化率；对于气体分子数减少的反应，增大压强通常会提升平衡转化率；</a:t>
            </a:r>
            <a:endParaRPr lang="en-US" sz="2250" dirty="0"/>
          </a:p>
          <a:p>
            <a:pPr indent="0" marL="0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225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3. 操作流程：产物分离提纯的步骤越多，过程中产物损大，实际产率越低；反应物投料方式、反应时间控制等操作细节</a:t>
            </a:r>
            <a:endParaRPr lang="en-US" sz="2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-12893"/>
            <a:ext cx="9157807" cy="516919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-12893"/>
            <a:ext cx="9157807" cy="51691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44057" y="-12893"/>
            <a:ext cx="3213293" cy="507684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944057" y="-12893"/>
            <a:ext cx="3213293" cy="5076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sp>
        <p:nvSpPr>
          <p:cNvPr id="6" name="Shape 2"/>
          <p:cNvSpPr/>
          <p:nvPr/>
        </p:nvSpPr>
        <p:spPr>
          <a:xfrm>
            <a:off x="146304" y="128016"/>
            <a:ext cx="8833104" cy="4873752"/>
          </a:xfrm>
          <a:custGeom>
            <a:avLst/>
            <a:gdLst/>
            <a:ahLst/>
            <a:cxnLst/>
            <a:rect l="l" t="t" r="r" b="b"/>
            <a:pathLst>
              <a:path w="8833104" h="4873752">
                <a:moveTo>
                  <a:pt x="0" y="0"/>
                </a:moveTo>
                <a:lnTo>
                  <a:pt x="8833104" y="0"/>
                </a:lnTo>
                <a:lnTo>
                  <a:pt x="8833104" y="4873752"/>
                </a:lnTo>
                <a:lnTo>
                  <a:pt x="0" y="4873752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" name="Text 3"/>
          <p:cNvSpPr/>
          <p:nvPr/>
        </p:nvSpPr>
        <p:spPr>
          <a:xfrm>
            <a:off x="146304" y="128016"/>
            <a:ext cx="8833104" cy="4873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pic>
        <p:nvPicPr>
          <p:cNvPr id="8" name="Image 2" descr="https://static.yipigai.cn/public/muban/3/nr-2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6304" y="3127248"/>
            <a:ext cx="8833104" cy="2782519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308153" y="410017"/>
            <a:ext cx="158557" cy="158557"/>
          </a:xfrm>
          <a:custGeom>
            <a:avLst/>
            <a:gdLst/>
            <a:ahLst/>
            <a:cxnLst/>
            <a:rect l="l" t="t" r="r" b="b"/>
            <a:pathLst>
              <a:path w="158557" h="158557">
                <a:moveTo>
                  <a:pt x="79278" y="0"/>
                </a:moveTo>
                <a:cubicBezTo>
                  <a:pt x="123033" y="0"/>
                  <a:pt x="158557" y="35523"/>
                  <a:pt x="158557" y="79278"/>
                </a:cubicBezTo>
                <a:cubicBezTo>
                  <a:pt x="158557" y="123033"/>
                  <a:pt x="123033" y="158557"/>
                  <a:pt x="79278" y="158557"/>
                </a:cubicBezTo>
                <a:cubicBezTo>
                  <a:pt x="35523" y="158557"/>
                  <a:pt x="0" y="123033"/>
                  <a:pt x="0" y="79278"/>
                </a:cubicBezTo>
                <a:cubicBezTo>
                  <a:pt x="0" y="35523"/>
                  <a:pt x="35523" y="0"/>
                  <a:pt x="79278" y="0"/>
                </a:cubicBezTo>
                <a:close/>
              </a:path>
            </a:pathLst>
          </a:custGeom>
          <a:solidFill>
            <a:srgbClr val="427092"/>
          </a:solidFill>
          <a:ln/>
        </p:spPr>
      </p:sp>
      <p:sp>
        <p:nvSpPr>
          <p:cNvPr id="10" name="Text 5"/>
          <p:cNvSpPr/>
          <p:nvPr/>
        </p:nvSpPr>
        <p:spPr>
          <a:xfrm>
            <a:off x="308153" y="410017"/>
            <a:ext cx="158557" cy="1585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sp>
        <p:nvSpPr>
          <p:cNvPr id="11" name="Text 6"/>
          <p:cNvSpPr/>
          <p:nvPr/>
        </p:nvSpPr>
        <p:spPr>
          <a:xfrm>
            <a:off x="538124" y="237744"/>
            <a:ext cx="3413364" cy="4572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75"/>
              </a:spcBef>
              <a:buNone/>
            </a:pPr>
            <a:r>
              <a:rPr lang="en-US" sz="1800" b="1" dirty="0">
                <a:solidFill>
                  <a:srgbClr val="427092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3.2 影响因素</a:t>
            </a:r>
            <a:endParaRPr lang="en-US" sz="2250" dirty="0"/>
          </a:p>
        </p:txBody>
      </p:sp>
      <p:sp>
        <p:nvSpPr>
          <p:cNvPr id="12" name="Text 7"/>
          <p:cNvSpPr/>
          <p:nvPr/>
        </p:nvSpPr>
        <p:spPr>
          <a:xfrm>
            <a:off x="640080" y="969264"/>
            <a:ext cx="7863840" cy="5943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225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也会对产率产生显著影响。</a:t>
            </a:r>
            <a:endParaRPr lang="en-US" sz="2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-12893"/>
            <a:ext cx="9157807" cy="516919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-12893"/>
            <a:ext cx="9157807" cy="51691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44057" y="-12893"/>
            <a:ext cx="3213293" cy="507684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944057" y="-12893"/>
            <a:ext cx="3213293" cy="5076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sp>
        <p:nvSpPr>
          <p:cNvPr id="6" name="Shape 2"/>
          <p:cNvSpPr/>
          <p:nvPr/>
        </p:nvSpPr>
        <p:spPr>
          <a:xfrm>
            <a:off x="153619" y="132679"/>
            <a:ext cx="8836853" cy="4878233"/>
          </a:xfrm>
          <a:custGeom>
            <a:avLst/>
            <a:gdLst/>
            <a:ahLst/>
            <a:cxnLst/>
            <a:rect l="l" t="t" r="r" b="b"/>
            <a:pathLst>
              <a:path w="8836853" h="4878233">
                <a:moveTo>
                  <a:pt x="0" y="0"/>
                </a:moveTo>
                <a:lnTo>
                  <a:pt x="8836853" y="0"/>
                </a:lnTo>
                <a:lnTo>
                  <a:pt x="8836853" y="4878233"/>
                </a:lnTo>
                <a:lnTo>
                  <a:pt x="0" y="4878233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" name="Text 3"/>
          <p:cNvSpPr/>
          <p:nvPr/>
        </p:nvSpPr>
        <p:spPr>
          <a:xfrm>
            <a:off x="153619" y="132679"/>
            <a:ext cx="8836853" cy="487823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sp>
        <p:nvSpPr>
          <p:cNvPr id="8" name="Text 4"/>
          <p:cNvSpPr/>
          <p:nvPr/>
        </p:nvSpPr>
        <p:spPr>
          <a:xfrm>
            <a:off x="2544242" y="2084556"/>
            <a:ext cx="4361657" cy="63093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algn="ctr" indent="0" marL="0">
              <a:lnSpc>
                <a:spcPct val="80000"/>
              </a:lnSpc>
              <a:spcBef>
                <a:spcPts val="375"/>
              </a:spcBef>
              <a:buNone/>
            </a:pPr>
            <a:r>
              <a:rPr lang="en-US" sz="3675" dirty="0">
                <a:solidFill>
                  <a:srgbClr val="427092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4 推导规则</a:t>
            </a:r>
            <a:endParaRPr lang="en-US" sz="2250" dirty="0"/>
          </a:p>
        </p:txBody>
      </p:sp>
      <p:sp>
        <p:nvSpPr>
          <p:cNvPr id="9" name="Shape 5"/>
          <p:cNvSpPr/>
          <p:nvPr/>
        </p:nvSpPr>
        <p:spPr>
          <a:xfrm>
            <a:off x="4046952" y="3032940"/>
            <a:ext cx="292425" cy="292425"/>
          </a:xfrm>
          <a:custGeom>
            <a:avLst/>
            <a:gdLst/>
            <a:ahLst/>
            <a:cxnLst/>
            <a:rect l="l" t="t" r="r" b="b"/>
            <a:pathLst>
              <a:path w="292425" h="292425">
                <a:moveTo>
                  <a:pt x="146213" y="0"/>
                </a:moveTo>
                <a:cubicBezTo>
                  <a:pt x="226909" y="0"/>
                  <a:pt x="292425" y="65516"/>
                  <a:pt x="292425" y="146213"/>
                </a:cubicBezTo>
                <a:cubicBezTo>
                  <a:pt x="292425" y="226909"/>
                  <a:pt x="226909" y="292425"/>
                  <a:pt x="146213" y="292425"/>
                </a:cubicBezTo>
                <a:cubicBezTo>
                  <a:pt x="65516" y="292425"/>
                  <a:pt x="0" y="226909"/>
                  <a:pt x="0" y="146213"/>
                </a:cubicBezTo>
                <a:cubicBezTo>
                  <a:pt x="0" y="65516"/>
                  <a:pt x="65516" y="0"/>
                  <a:pt x="146213" y="0"/>
                </a:cubicBezTo>
                <a:close/>
              </a:path>
            </a:pathLst>
          </a:custGeom>
          <a:solidFill>
            <a:srgbClr val="F1CB8F"/>
          </a:solidFill>
          <a:ln/>
        </p:spPr>
      </p:sp>
      <p:sp>
        <p:nvSpPr>
          <p:cNvPr id="10" name="Text 6"/>
          <p:cNvSpPr/>
          <p:nvPr/>
        </p:nvSpPr>
        <p:spPr>
          <a:xfrm>
            <a:off x="4046952" y="3032940"/>
            <a:ext cx="292425" cy="2924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sp>
        <p:nvSpPr>
          <p:cNvPr id="11" name="Shape 7"/>
          <p:cNvSpPr/>
          <p:nvPr/>
        </p:nvSpPr>
        <p:spPr>
          <a:xfrm>
            <a:off x="4432645" y="3032940"/>
            <a:ext cx="292425" cy="292425"/>
          </a:xfrm>
          <a:custGeom>
            <a:avLst/>
            <a:gdLst/>
            <a:ahLst/>
            <a:cxnLst/>
            <a:rect l="l" t="t" r="r" b="b"/>
            <a:pathLst>
              <a:path w="292425" h="292425">
                <a:moveTo>
                  <a:pt x="146213" y="0"/>
                </a:moveTo>
                <a:cubicBezTo>
                  <a:pt x="226909" y="0"/>
                  <a:pt x="292425" y="65516"/>
                  <a:pt x="292425" y="146213"/>
                </a:cubicBezTo>
                <a:cubicBezTo>
                  <a:pt x="292425" y="226909"/>
                  <a:pt x="226909" y="292425"/>
                  <a:pt x="146213" y="292425"/>
                </a:cubicBezTo>
                <a:cubicBezTo>
                  <a:pt x="65516" y="292425"/>
                  <a:pt x="0" y="226909"/>
                  <a:pt x="0" y="146213"/>
                </a:cubicBezTo>
                <a:cubicBezTo>
                  <a:pt x="0" y="65516"/>
                  <a:pt x="65516" y="0"/>
                  <a:pt x="146213" y="0"/>
                </a:cubicBezTo>
                <a:close/>
              </a:path>
            </a:pathLst>
          </a:custGeom>
          <a:solidFill>
            <a:srgbClr val="427092"/>
          </a:solidFill>
          <a:ln/>
        </p:spPr>
      </p:sp>
      <p:sp>
        <p:nvSpPr>
          <p:cNvPr id="12" name="Text 8"/>
          <p:cNvSpPr/>
          <p:nvPr/>
        </p:nvSpPr>
        <p:spPr>
          <a:xfrm>
            <a:off x="4432645" y="3032940"/>
            <a:ext cx="292425" cy="2924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sp>
        <p:nvSpPr>
          <p:cNvPr id="13" name="Shape 9"/>
          <p:cNvSpPr/>
          <p:nvPr/>
        </p:nvSpPr>
        <p:spPr>
          <a:xfrm>
            <a:off x="4818431" y="3032940"/>
            <a:ext cx="292425" cy="292425"/>
          </a:xfrm>
          <a:custGeom>
            <a:avLst/>
            <a:gdLst/>
            <a:ahLst/>
            <a:cxnLst/>
            <a:rect l="l" t="t" r="r" b="b"/>
            <a:pathLst>
              <a:path w="292425" h="292425">
                <a:moveTo>
                  <a:pt x="146213" y="0"/>
                </a:moveTo>
                <a:cubicBezTo>
                  <a:pt x="226909" y="0"/>
                  <a:pt x="292425" y="65516"/>
                  <a:pt x="292425" y="146213"/>
                </a:cubicBezTo>
                <a:cubicBezTo>
                  <a:pt x="292425" y="226909"/>
                  <a:pt x="226909" y="292425"/>
                  <a:pt x="146213" y="292425"/>
                </a:cubicBezTo>
                <a:cubicBezTo>
                  <a:pt x="65516" y="292425"/>
                  <a:pt x="0" y="226909"/>
                  <a:pt x="0" y="146213"/>
                </a:cubicBezTo>
                <a:cubicBezTo>
                  <a:pt x="0" y="65516"/>
                  <a:pt x="65516" y="0"/>
                  <a:pt x="146213" y="0"/>
                </a:cubicBezTo>
                <a:close/>
              </a:path>
            </a:pathLst>
          </a:custGeom>
          <a:solidFill>
            <a:srgbClr val="F1CB8F"/>
          </a:solidFill>
          <a:ln/>
        </p:spPr>
      </p:sp>
      <p:sp>
        <p:nvSpPr>
          <p:cNvPr id="14" name="Text 10"/>
          <p:cNvSpPr/>
          <p:nvPr/>
        </p:nvSpPr>
        <p:spPr>
          <a:xfrm>
            <a:off x="4818431" y="3032940"/>
            <a:ext cx="292425" cy="2924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404961" y="1474006"/>
            <a:ext cx="347886" cy="38471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404961" y="1474006"/>
            <a:ext cx="347886" cy="3847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-12893"/>
            <a:ext cx="9157807" cy="516919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-12893"/>
            <a:ext cx="9157807" cy="51691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44057" y="-12893"/>
            <a:ext cx="3213293" cy="507684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944057" y="-12893"/>
            <a:ext cx="3213293" cy="5076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sp>
        <p:nvSpPr>
          <p:cNvPr id="6" name="Shape 2"/>
          <p:cNvSpPr/>
          <p:nvPr/>
        </p:nvSpPr>
        <p:spPr>
          <a:xfrm>
            <a:off x="146304" y="128016"/>
            <a:ext cx="8833104" cy="4873752"/>
          </a:xfrm>
          <a:custGeom>
            <a:avLst/>
            <a:gdLst/>
            <a:ahLst/>
            <a:cxnLst/>
            <a:rect l="l" t="t" r="r" b="b"/>
            <a:pathLst>
              <a:path w="8833104" h="4873752">
                <a:moveTo>
                  <a:pt x="0" y="0"/>
                </a:moveTo>
                <a:lnTo>
                  <a:pt x="8833104" y="0"/>
                </a:lnTo>
                <a:lnTo>
                  <a:pt x="8833104" y="4873752"/>
                </a:lnTo>
                <a:lnTo>
                  <a:pt x="0" y="4873752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" name="Text 3"/>
          <p:cNvSpPr/>
          <p:nvPr/>
        </p:nvSpPr>
        <p:spPr>
          <a:xfrm>
            <a:off x="146304" y="128016"/>
            <a:ext cx="8833104" cy="4873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pic>
        <p:nvPicPr>
          <p:cNvPr id="8" name="Image 2" descr="https://static.yipigai.cn/public/muban/3/nr-2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6304" y="3127248"/>
            <a:ext cx="8833104" cy="2782519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308153" y="410017"/>
            <a:ext cx="158557" cy="158557"/>
          </a:xfrm>
          <a:custGeom>
            <a:avLst/>
            <a:gdLst/>
            <a:ahLst/>
            <a:cxnLst/>
            <a:rect l="l" t="t" r="r" b="b"/>
            <a:pathLst>
              <a:path w="158557" h="158557">
                <a:moveTo>
                  <a:pt x="79278" y="0"/>
                </a:moveTo>
                <a:cubicBezTo>
                  <a:pt x="123033" y="0"/>
                  <a:pt x="158557" y="35523"/>
                  <a:pt x="158557" y="79278"/>
                </a:cubicBezTo>
                <a:cubicBezTo>
                  <a:pt x="158557" y="123033"/>
                  <a:pt x="123033" y="158557"/>
                  <a:pt x="79278" y="158557"/>
                </a:cubicBezTo>
                <a:cubicBezTo>
                  <a:pt x="35523" y="158557"/>
                  <a:pt x="0" y="123033"/>
                  <a:pt x="0" y="79278"/>
                </a:cubicBezTo>
                <a:cubicBezTo>
                  <a:pt x="0" y="35523"/>
                  <a:pt x="35523" y="0"/>
                  <a:pt x="79278" y="0"/>
                </a:cubicBezTo>
                <a:close/>
              </a:path>
            </a:pathLst>
          </a:custGeom>
          <a:solidFill>
            <a:srgbClr val="427092"/>
          </a:solidFill>
          <a:ln/>
        </p:spPr>
      </p:sp>
      <p:sp>
        <p:nvSpPr>
          <p:cNvPr id="10" name="Text 5"/>
          <p:cNvSpPr/>
          <p:nvPr/>
        </p:nvSpPr>
        <p:spPr>
          <a:xfrm>
            <a:off x="308153" y="410017"/>
            <a:ext cx="158557" cy="1585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sp>
        <p:nvSpPr>
          <p:cNvPr id="11" name="Text 6"/>
          <p:cNvSpPr/>
          <p:nvPr/>
        </p:nvSpPr>
        <p:spPr>
          <a:xfrm>
            <a:off x="538124" y="237744"/>
            <a:ext cx="3413364" cy="4572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75"/>
              </a:spcBef>
              <a:buNone/>
            </a:pPr>
            <a:r>
              <a:rPr lang="en-US" sz="1800" b="1" dirty="0">
                <a:solidFill>
                  <a:srgbClr val="427092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4.1 单步反应推导</a:t>
            </a:r>
            <a:endParaRPr lang="en-US" sz="2250" dirty="0"/>
          </a:p>
        </p:txBody>
      </p:sp>
      <p:sp>
        <p:nvSpPr>
          <p:cNvPr id="12" name="Text 7"/>
          <p:cNvSpPr/>
          <p:nvPr/>
        </p:nvSpPr>
        <p:spPr>
          <a:xfrm>
            <a:off x="640080" y="969264"/>
            <a:ext cx="7863840" cy="361188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225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单步反应的产率推导步骤如下：</a:t>
            </a:r>
            <a:endParaRPr lang="en-US" sz="2250" dirty="0"/>
          </a:p>
          <a:p>
            <a:pPr indent="0" marL="0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225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1. 准确书写配平的化学方程式，明确反应物与目标产物的计量关系；</a:t>
            </a:r>
            <a:endParaRPr lang="en-US" sz="2250" dirty="0"/>
          </a:p>
          <a:p>
            <a:pPr indent="0" marL="0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225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2. 计算所有反应物的物质的量，判断过量反应物与限量反应物，以限量反应物的物质的量为基准计算目标产物的理论产量；</a:t>
            </a:r>
            <a:endParaRPr lang="en-US" sz="2250" dirty="0"/>
          </a:p>
          <a:p>
            <a:pPr indent="0" marL="0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225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3. 根据实际获得的产物质量，代入产率公式计算反应的产率；若已知产率，可根据反应物的投入量计算产物的实际产量，或根据目标产物的产量计算所需反应物的最小投入量。</a:t>
            </a:r>
            <a:endParaRPr lang="en-US" sz="2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-12893"/>
            <a:ext cx="9157807" cy="516919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-12893"/>
            <a:ext cx="9157807" cy="51691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44057" y="-12893"/>
            <a:ext cx="3213293" cy="507684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944057" y="-12893"/>
            <a:ext cx="3213293" cy="5076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sp>
        <p:nvSpPr>
          <p:cNvPr id="6" name="Shape 2"/>
          <p:cNvSpPr/>
          <p:nvPr/>
        </p:nvSpPr>
        <p:spPr>
          <a:xfrm>
            <a:off x="146304" y="128016"/>
            <a:ext cx="8833104" cy="4873752"/>
          </a:xfrm>
          <a:custGeom>
            <a:avLst/>
            <a:gdLst/>
            <a:ahLst/>
            <a:cxnLst/>
            <a:rect l="l" t="t" r="r" b="b"/>
            <a:pathLst>
              <a:path w="8833104" h="4873752">
                <a:moveTo>
                  <a:pt x="0" y="0"/>
                </a:moveTo>
                <a:lnTo>
                  <a:pt x="8833104" y="0"/>
                </a:lnTo>
                <a:lnTo>
                  <a:pt x="8833104" y="4873752"/>
                </a:lnTo>
                <a:lnTo>
                  <a:pt x="0" y="4873752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" name="Text 3"/>
          <p:cNvSpPr/>
          <p:nvPr/>
        </p:nvSpPr>
        <p:spPr>
          <a:xfrm>
            <a:off x="146304" y="128016"/>
            <a:ext cx="8833104" cy="4873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pic>
        <p:nvPicPr>
          <p:cNvPr id="8" name="Image 2" descr="https://static.yipigai.cn/public/muban/3/nr-2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6304" y="3127248"/>
            <a:ext cx="8833104" cy="2782519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308153" y="410017"/>
            <a:ext cx="158557" cy="158557"/>
          </a:xfrm>
          <a:custGeom>
            <a:avLst/>
            <a:gdLst/>
            <a:ahLst/>
            <a:cxnLst/>
            <a:rect l="l" t="t" r="r" b="b"/>
            <a:pathLst>
              <a:path w="158557" h="158557">
                <a:moveTo>
                  <a:pt x="79278" y="0"/>
                </a:moveTo>
                <a:cubicBezTo>
                  <a:pt x="123033" y="0"/>
                  <a:pt x="158557" y="35523"/>
                  <a:pt x="158557" y="79278"/>
                </a:cubicBezTo>
                <a:cubicBezTo>
                  <a:pt x="158557" y="123033"/>
                  <a:pt x="123033" y="158557"/>
                  <a:pt x="79278" y="158557"/>
                </a:cubicBezTo>
                <a:cubicBezTo>
                  <a:pt x="35523" y="158557"/>
                  <a:pt x="0" y="123033"/>
                  <a:pt x="0" y="79278"/>
                </a:cubicBezTo>
                <a:cubicBezTo>
                  <a:pt x="0" y="35523"/>
                  <a:pt x="35523" y="0"/>
                  <a:pt x="79278" y="0"/>
                </a:cubicBezTo>
                <a:close/>
              </a:path>
            </a:pathLst>
          </a:custGeom>
          <a:solidFill>
            <a:srgbClr val="427092"/>
          </a:solidFill>
          <a:ln/>
        </p:spPr>
      </p:sp>
      <p:sp>
        <p:nvSpPr>
          <p:cNvPr id="10" name="Text 5"/>
          <p:cNvSpPr/>
          <p:nvPr/>
        </p:nvSpPr>
        <p:spPr>
          <a:xfrm>
            <a:off x="308153" y="410017"/>
            <a:ext cx="158557" cy="1585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sp>
        <p:nvSpPr>
          <p:cNvPr id="11" name="Text 6"/>
          <p:cNvSpPr/>
          <p:nvPr/>
        </p:nvSpPr>
        <p:spPr>
          <a:xfrm>
            <a:off x="538124" y="237744"/>
            <a:ext cx="3413364" cy="4572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75"/>
              </a:spcBef>
              <a:buNone/>
            </a:pPr>
            <a:r>
              <a:rPr lang="en-US" sz="1800" b="1" dirty="0">
                <a:solidFill>
                  <a:srgbClr val="427092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4.1 单步反应推导</a:t>
            </a:r>
            <a:endParaRPr lang="en-US" sz="22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969264"/>
            <a:ext cx="7863840" cy="1949672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-12893"/>
            <a:ext cx="9157807" cy="516919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-12893"/>
            <a:ext cx="9157807" cy="51691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44057" y="-12893"/>
            <a:ext cx="3213293" cy="507684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944057" y="-12893"/>
            <a:ext cx="3213293" cy="5076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sp>
        <p:nvSpPr>
          <p:cNvPr id="6" name="Shape 2"/>
          <p:cNvSpPr/>
          <p:nvPr/>
        </p:nvSpPr>
        <p:spPr>
          <a:xfrm>
            <a:off x="146304" y="128016"/>
            <a:ext cx="8833104" cy="4873752"/>
          </a:xfrm>
          <a:custGeom>
            <a:avLst/>
            <a:gdLst/>
            <a:ahLst/>
            <a:cxnLst/>
            <a:rect l="l" t="t" r="r" b="b"/>
            <a:pathLst>
              <a:path w="8833104" h="4873752">
                <a:moveTo>
                  <a:pt x="0" y="0"/>
                </a:moveTo>
                <a:lnTo>
                  <a:pt x="8833104" y="0"/>
                </a:lnTo>
                <a:lnTo>
                  <a:pt x="8833104" y="4873752"/>
                </a:lnTo>
                <a:lnTo>
                  <a:pt x="0" y="4873752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" name="Text 3"/>
          <p:cNvSpPr/>
          <p:nvPr/>
        </p:nvSpPr>
        <p:spPr>
          <a:xfrm>
            <a:off x="146304" y="128016"/>
            <a:ext cx="8833104" cy="4873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pic>
        <p:nvPicPr>
          <p:cNvPr id="8" name="Image 2" descr="https://static.yipigai.cn/public/muban/3/nr-2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6304" y="3127248"/>
            <a:ext cx="8833104" cy="2782519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308153" y="410017"/>
            <a:ext cx="158557" cy="158557"/>
          </a:xfrm>
          <a:custGeom>
            <a:avLst/>
            <a:gdLst/>
            <a:ahLst/>
            <a:cxnLst/>
            <a:rect l="l" t="t" r="r" b="b"/>
            <a:pathLst>
              <a:path w="158557" h="158557">
                <a:moveTo>
                  <a:pt x="79278" y="0"/>
                </a:moveTo>
                <a:cubicBezTo>
                  <a:pt x="123033" y="0"/>
                  <a:pt x="158557" y="35523"/>
                  <a:pt x="158557" y="79278"/>
                </a:cubicBezTo>
                <a:cubicBezTo>
                  <a:pt x="158557" y="123033"/>
                  <a:pt x="123033" y="158557"/>
                  <a:pt x="79278" y="158557"/>
                </a:cubicBezTo>
                <a:cubicBezTo>
                  <a:pt x="35523" y="158557"/>
                  <a:pt x="0" y="123033"/>
                  <a:pt x="0" y="79278"/>
                </a:cubicBezTo>
                <a:cubicBezTo>
                  <a:pt x="0" y="35523"/>
                  <a:pt x="35523" y="0"/>
                  <a:pt x="79278" y="0"/>
                </a:cubicBezTo>
                <a:close/>
              </a:path>
            </a:pathLst>
          </a:custGeom>
          <a:solidFill>
            <a:srgbClr val="427092"/>
          </a:solidFill>
          <a:ln/>
        </p:spPr>
      </p:sp>
      <p:sp>
        <p:nvSpPr>
          <p:cNvPr id="10" name="Text 5"/>
          <p:cNvSpPr/>
          <p:nvPr/>
        </p:nvSpPr>
        <p:spPr>
          <a:xfrm>
            <a:off x="308153" y="410017"/>
            <a:ext cx="158557" cy="1585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sp>
        <p:nvSpPr>
          <p:cNvPr id="11" name="Text 6"/>
          <p:cNvSpPr/>
          <p:nvPr/>
        </p:nvSpPr>
        <p:spPr>
          <a:xfrm>
            <a:off x="538124" y="237744"/>
            <a:ext cx="3413364" cy="4572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75"/>
              </a:spcBef>
              <a:buNone/>
            </a:pPr>
            <a:r>
              <a:rPr lang="en-US" sz="1800" b="1" dirty="0">
                <a:solidFill>
                  <a:srgbClr val="427092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4.2 多步反应推导</a:t>
            </a:r>
            <a:endParaRPr lang="en-US" sz="2250" dirty="0"/>
          </a:p>
        </p:txBody>
      </p:sp>
      <p:sp>
        <p:nvSpPr>
          <p:cNvPr id="12" name="Text 7"/>
          <p:cNvSpPr/>
          <p:nvPr/>
        </p:nvSpPr>
        <p:spPr>
          <a:xfrm>
            <a:off x="640080" y="969264"/>
            <a:ext cx="7863840" cy="361188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225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多步连续反应的产率推导步骤如下：</a:t>
            </a:r>
            <a:endParaRPr lang="en-US" sz="2250" dirty="0"/>
          </a:p>
          <a:p>
            <a:pPr indent="0" marL="0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225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1. 依次书写每一步反应的配平化学方程式，确定中间产物的传递关系，找出起始反应物与最终目标产物的计量关系，建立总反应的物料守恒式；</a:t>
            </a:r>
            <a:endParaRPr lang="en-US" sz="2250" dirty="0"/>
          </a:p>
          <a:p>
            <a:pPr indent="0" marL="0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225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2. 以起始限量反应物的物质的量为基准，结合各分步反应的产率，依次计算每一步中间产物的实际产量，作为下一步反应的反应物投入量；</a:t>
            </a:r>
            <a:endParaRPr lang="en-US" sz="2250" dirty="0"/>
          </a:p>
          <a:p>
            <a:pPr indent="0" marL="0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225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3. 最终产物的总产率等于各分步产率的乘积，也等于最</a:t>
            </a:r>
            <a:endParaRPr lang="en-US" sz="2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-12893"/>
            <a:ext cx="9157807" cy="516919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-12893"/>
            <a:ext cx="9157807" cy="51691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44057" y="-12893"/>
            <a:ext cx="3213293" cy="507684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944057" y="-12893"/>
            <a:ext cx="3213293" cy="5076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sp>
        <p:nvSpPr>
          <p:cNvPr id="6" name="Shape 2"/>
          <p:cNvSpPr/>
          <p:nvPr/>
        </p:nvSpPr>
        <p:spPr>
          <a:xfrm>
            <a:off x="146304" y="128016"/>
            <a:ext cx="8833104" cy="4873752"/>
          </a:xfrm>
          <a:custGeom>
            <a:avLst/>
            <a:gdLst/>
            <a:ahLst/>
            <a:cxnLst/>
            <a:rect l="l" t="t" r="r" b="b"/>
            <a:pathLst>
              <a:path w="8833104" h="4873752">
                <a:moveTo>
                  <a:pt x="0" y="0"/>
                </a:moveTo>
                <a:lnTo>
                  <a:pt x="8833104" y="0"/>
                </a:lnTo>
                <a:lnTo>
                  <a:pt x="8833104" y="4873752"/>
                </a:lnTo>
                <a:lnTo>
                  <a:pt x="0" y="4873752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" name="Text 3"/>
          <p:cNvSpPr/>
          <p:nvPr/>
        </p:nvSpPr>
        <p:spPr>
          <a:xfrm>
            <a:off x="146304" y="128016"/>
            <a:ext cx="8833104" cy="4873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pic>
        <p:nvPicPr>
          <p:cNvPr id="8" name="Image 2" descr="https://static.yipigai.cn/public/muban/3/nr-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6304" y="2779776"/>
            <a:ext cx="8833104" cy="2226564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308153" y="410017"/>
            <a:ext cx="158557" cy="158557"/>
          </a:xfrm>
          <a:custGeom>
            <a:avLst/>
            <a:gdLst/>
            <a:ahLst/>
            <a:cxnLst/>
            <a:rect l="l" t="t" r="r" b="b"/>
            <a:pathLst>
              <a:path w="158557" h="158557">
                <a:moveTo>
                  <a:pt x="79278" y="0"/>
                </a:moveTo>
                <a:cubicBezTo>
                  <a:pt x="123033" y="0"/>
                  <a:pt x="158557" y="35523"/>
                  <a:pt x="158557" y="79278"/>
                </a:cubicBezTo>
                <a:cubicBezTo>
                  <a:pt x="158557" y="123033"/>
                  <a:pt x="123033" y="158557"/>
                  <a:pt x="79278" y="158557"/>
                </a:cubicBezTo>
                <a:cubicBezTo>
                  <a:pt x="35523" y="158557"/>
                  <a:pt x="0" y="123033"/>
                  <a:pt x="0" y="79278"/>
                </a:cubicBezTo>
                <a:cubicBezTo>
                  <a:pt x="0" y="35523"/>
                  <a:pt x="35523" y="0"/>
                  <a:pt x="79278" y="0"/>
                </a:cubicBezTo>
                <a:close/>
              </a:path>
            </a:pathLst>
          </a:custGeom>
          <a:solidFill>
            <a:srgbClr val="427092"/>
          </a:solidFill>
          <a:ln/>
        </p:spPr>
      </p:sp>
      <p:sp>
        <p:nvSpPr>
          <p:cNvPr id="10" name="Text 5"/>
          <p:cNvSpPr/>
          <p:nvPr/>
        </p:nvSpPr>
        <p:spPr>
          <a:xfrm>
            <a:off x="308153" y="410017"/>
            <a:ext cx="158557" cy="1585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sp>
        <p:nvSpPr>
          <p:cNvPr id="11" name="Text 6"/>
          <p:cNvSpPr/>
          <p:nvPr/>
        </p:nvSpPr>
        <p:spPr>
          <a:xfrm>
            <a:off x="538124" y="237744"/>
            <a:ext cx="3413364" cy="4572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75"/>
              </a:spcBef>
              <a:buNone/>
            </a:pPr>
            <a:r>
              <a:rPr lang="en-US" sz="1800" b="1" dirty="0">
                <a:solidFill>
                  <a:srgbClr val="427092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4.2 多步反应推导</a:t>
            </a:r>
            <a:endParaRPr lang="en-US" sz="22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969264"/>
            <a:ext cx="7863840" cy="3005661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-12893"/>
            <a:ext cx="9157807" cy="516919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-12893"/>
            <a:ext cx="9157807" cy="51691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44057" y="-12893"/>
            <a:ext cx="3213293" cy="507684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944057" y="-12893"/>
            <a:ext cx="3213293" cy="5076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sp>
        <p:nvSpPr>
          <p:cNvPr id="6" name="Shape 2"/>
          <p:cNvSpPr/>
          <p:nvPr/>
        </p:nvSpPr>
        <p:spPr>
          <a:xfrm>
            <a:off x="146304" y="128016"/>
            <a:ext cx="8833104" cy="4873752"/>
          </a:xfrm>
          <a:custGeom>
            <a:avLst/>
            <a:gdLst/>
            <a:ahLst/>
            <a:cxnLst/>
            <a:rect l="l" t="t" r="r" b="b"/>
            <a:pathLst>
              <a:path w="8833104" h="4873752">
                <a:moveTo>
                  <a:pt x="0" y="0"/>
                </a:moveTo>
                <a:lnTo>
                  <a:pt x="8833104" y="0"/>
                </a:lnTo>
                <a:lnTo>
                  <a:pt x="8833104" y="4873752"/>
                </a:lnTo>
                <a:lnTo>
                  <a:pt x="0" y="4873752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" name="Text 3"/>
          <p:cNvSpPr/>
          <p:nvPr/>
        </p:nvSpPr>
        <p:spPr>
          <a:xfrm>
            <a:off x="146304" y="128016"/>
            <a:ext cx="8833104" cy="4873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pic>
        <p:nvPicPr>
          <p:cNvPr id="8" name="Image 2" descr="https://static.yipigai.cn/public/muban/3/nr-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6304" y="2779776"/>
            <a:ext cx="8833104" cy="2226564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308153" y="410017"/>
            <a:ext cx="158557" cy="158557"/>
          </a:xfrm>
          <a:custGeom>
            <a:avLst/>
            <a:gdLst/>
            <a:ahLst/>
            <a:cxnLst/>
            <a:rect l="l" t="t" r="r" b="b"/>
            <a:pathLst>
              <a:path w="158557" h="158557">
                <a:moveTo>
                  <a:pt x="79278" y="0"/>
                </a:moveTo>
                <a:cubicBezTo>
                  <a:pt x="123033" y="0"/>
                  <a:pt x="158557" y="35523"/>
                  <a:pt x="158557" y="79278"/>
                </a:cubicBezTo>
                <a:cubicBezTo>
                  <a:pt x="158557" y="123033"/>
                  <a:pt x="123033" y="158557"/>
                  <a:pt x="79278" y="158557"/>
                </a:cubicBezTo>
                <a:cubicBezTo>
                  <a:pt x="35523" y="158557"/>
                  <a:pt x="0" y="123033"/>
                  <a:pt x="0" y="79278"/>
                </a:cubicBezTo>
                <a:cubicBezTo>
                  <a:pt x="0" y="35523"/>
                  <a:pt x="35523" y="0"/>
                  <a:pt x="79278" y="0"/>
                </a:cubicBezTo>
                <a:close/>
              </a:path>
            </a:pathLst>
          </a:custGeom>
          <a:solidFill>
            <a:srgbClr val="427092"/>
          </a:solidFill>
          <a:ln/>
        </p:spPr>
      </p:sp>
      <p:sp>
        <p:nvSpPr>
          <p:cNvPr id="10" name="Text 5"/>
          <p:cNvSpPr/>
          <p:nvPr/>
        </p:nvSpPr>
        <p:spPr>
          <a:xfrm>
            <a:off x="308153" y="410017"/>
            <a:ext cx="158557" cy="1585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sp>
        <p:nvSpPr>
          <p:cNvPr id="11" name="Text 6"/>
          <p:cNvSpPr/>
          <p:nvPr/>
        </p:nvSpPr>
        <p:spPr>
          <a:xfrm>
            <a:off x="538124" y="237744"/>
            <a:ext cx="3413364" cy="4572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75"/>
              </a:spcBef>
              <a:buNone/>
            </a:pPr>
            <a:r>
              <a:rPr lang="en-US" sz="1800" b="1" dirty="0">
                <a:solidFill>
                  <a:srgbClr val="427092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4.3 平行反应推导</a:t>
            </a:r>
            <a:endParaRPr lang="en-US" sz="22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969264"/>
            <a:ext cx="7863840" cy="3722322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-12893"/>
            <a:ext cx="9157807" cy="516919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-12893"/>
            <a:ext cx="9157807" cy="51691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44057" y="-12893"/>
            <a:ext cx="3213293" cy="507684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944057" y="-12893"/>
            <a:ext cx="3213293" cy="5076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sp>
        <p:nvSpPr>
          <p:cNvPr id="6" name="Shape 2"/>
          <p:cNvSpPr/>
          <p:nvPr/>
        </p:nvSpPr>
        <p:spPr>
          <a:xfrm>
            <a:off x="146304" y="128016"/>
            <a:ext cx="8833104" cy="4873752"/>
          </a:xfrm>
          <a:custGeom>
            <a:avLst/>
            <a:gdLst/>
            <a:ahLst/>
            <a:cxnLst/>
            <a:rect l="l" t="t" r="r" b="b"/>
            <a:pathLst>
              <a:path w="8833104" h="4873752">
                <a:moveTo>
                  <a:pt x="0" y="0"/>
                </a:moveTo>
                <a:lnTo>
                  <a:pt x="8833104" y="0"/>
                </a:lnTo>
                <a:lnTo>
                  <a:pt x="8833104" y="4873752"/>
                </a:lnTo>
                <a:lnTo>
                  <a:pt x="0" y="4873752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" name="Text 3"/>
          <p:cNvSpPr/>
          <p:nvPr/>
        </p:nvSpPr>
        <p:spPr>
          <a:xfrm>
            <a:off x="146304" y="128016"/>
            <a:ext cx="8833104" cy="4873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pic>
        <p:nvPicPr>
          <p:cNvPr id="8" name="Image 2" descr="https://static.yipigai.cn/public/muban/3/nr-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6304" y="2779776"/>
            <a:ext cx="8833104" cy="2226564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308153" y="410017"/>
            <a:ext cx="158557" cy="158557"/>
          </a:xfrm>
          <a:custGeom>
            <a:avLst/>
            <a:gdLst/>
            <a:ahLst/>
            <a:cxnLst/>
            <a:rect l="l" t="t" r="r" b="b"/>
            <a:pathLst>
              <a:path w="158557" h="158557">
                <a:moveTo>
                  <a:pt x="79278" y="0"/>
                </a:moveTo>
                <a:cubicBezTo>
                  <a:pt x="123033" y="0"/>
                  <a:pt x="158557" y="35523"/>
                  <a:pt x="158557" y="79278"/>
                </a:cubicBezTo>
                <a:cubicBezTo>
                  <a:pt x="158557" y="123033"/>
                  <a:pt x="123033" y="158557"/>
                  <a:pt x="79278" y="158557"/>
                </a:cubicBezTo>
                <a:cubicBezTo>
                  <a:pt x="35523" y="158557"/>
                  <a:pt x="0" y="123033"/>
                  <a:pt x="0" y="79278"/>
                </a:cubicBezTo>
                <a:cubicBezTo>
                  <a:pt x="0" y="35523"/>
                  <a:pt x="35523" y="0"/>
                  <a:pt x="79278" y="0"/>
                </a:cubicBezTo>
                <a:close/>
              </a:path>
            </a:pathLst>
          </a:custGeom>
          <a:solidFill>
            <a:srgbClr val="427092"/>
          </a:solidFill>
          <a:ln/>
        </p:spPr>
      </p:sp>
      <p:sp>
        <p:nvSpPr>
          <p:cNvPr id="10" name="Text 5"/>
          <p:cNvSpPr/>
          <p:nvPr/>
        </p:nvSpPr>
        <p:spPr>
          <a:xfrm>
            <a:off x="308153" y="410017"/>
            <a:ext cx="158557" cy="1585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sp>
        <p:nvSpPr>
          <p:cNvPr id="11" name="Text 6"/>
          <p:cNvSpPr/>
          <p:nvPr/>
        </p:nvSpPr>
        <p:spPr>
          <a:xfrm>
            <a:off x="538124" y="237744"/>
            <a:ext cx="3413364" cy="4572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75"/>
              </a:spcBef>
              <a:buNone/>
            </a:pPr>
            <a:r>
              <a:rPr lang="en-US" sz="1800" b="1" dirty="0">
                <a:solidFill>
                  <a:srgbClr val="427092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4.3 平行反应推导</a:t>
            </a:r>
            <a:endParaRPr lang="en-US" sz="22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969264"/>
            <a:ext cx="7863840" cy="271162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-12893"/>
            <a:ext cx="9157807" cy="516919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-12893"/>
            <a:ext cx="9157807" cy="51691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44057" y="-12893"/>
            <a:ext cx="3213293" cy="507684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944057" y="-12893"/>
            <a:ext cx="3213293" cy="5076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sp>
        <p:nvSpPr>
          <p:cNvPr id="6" name="Shape 2"/>
          <p:cNvSpPr/>
          <p:nvPr/>
        </p:nvSpPr>
        <p:spPr>
          <a:xfrm>
            <a:off x="153619" y="132679"/>
            <a:ext cx="8836853" cy="4878233"/>
          </a:xfrm>
          <a:custGeom>
            <a:avLst/>
            <a:gdLst/>
            <a:ahLst/>
            <a:cxnLst/>
            <a:rect l="l" t="t" r="r" b="b"/>
            <a:pathLst>
              <a:path w="8836853" h="4878233">
                <a:moveTo>
                  <a:pt x="0" y="0"/>
                </a:moveTo>
                <a:lnTo>
                  <a:pt x="8836853" y="0"/>
                </a:lnTo>
                <a:lnTo>
                  <a:pt x="8836853" y="4878233"/>
                </a:lnTo>
                <a:lnTo>
                  <a:pt x="0" y="4878233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" name="Text 3"/>
          <p:cNvSpPr/>
          <p:nvPr/>
        </p:nvSpPr>
        <p:spPr>
          <a:xfrm>
            <a:off x="153619" y="132679"/>
            <a:ext cx="8836853" cy="487823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sp>
        <p:nvSpPr>
          <p:cNvPr id="8" name="Text 4"/>
          <p:cNvSpPr/>
          <p:nvPr/>
        </p:nvSpPr>
        <p:spPr>
          <a:xfrm>
            <a:off x="2544242" y="2084556"/>
            <a:ext cx="4361657" cy="63093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algn="ctr" indent="0" marL="0">
              <a:lnSpc>
                <a:spcPct val="80000"/>
              </a:lnSpc>
              <a:spcBef>
                <a:spcPts val="375"/>
              </a:spcBef>
              <a:buNone/>
            </a:pPr>
            <a:r>
              <a:rPr lang="en-US" sz="3675" dirty="0">
                <a:solidFill>
                  <a:srgbClr val="427092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5 典型例题</a:t>
            </a:r>
            <a:endParaRPr lang="en-US" sz="2250" dirty="0"/>
          </a:p>
        </p:txBody>
      </p:sp>
      <p:sp>
        <p:nvSpPr>
          <p:cNvPr id="9" name="Shape 5"/>
          <p:cNvSpPr/>
          <p:nvPr/>
        </p:nvSpPr>
        <p:spPr>
          <a:xfrm>
            <a:off x="4046952" y="3032940"/>
            <a:ext cx="292425" cy="292425"/>
          </a:xfrm>
          <a:custGeom>
            <a:avLst/>
            <a:gdLst/>
            <a:ahLst/>
            <a:cxnLst/>
            <a:rect l="l" t="t" r="r" b="b"/>
            <a:pathLst>
              <a:path w="292425" h="292425">
                <a:moveTo>
                  <a:pt x="146213" y="0"/>
                </a:moveTo>
                <a:cubicBezTo>
                  <a:pt x="226909" y="0"/>
                  <a:pt x="292425" y="65516"/>
                  <a:pt x="292425" y="146213"/>
                </a:cubicBezTo>
                <a:cubicBezTo>
                  <a:pt x="292425" y="226909"/>
                  <a:pt x="226909" y="292425"/>
                  <a:pt x="146213" y="292425"/>
                </a:cubicBezTo>
                <a:cubicBezTo>
                  <a:pt x="65516" y="292425"/>
                  <a:pt x="0" y="226909"/>
                  <a:pt x="0" y="146213"/>
                </a:cubicBezTo>
                <a:cubicBezTo>
                  <a:pt x="0" y="65516"/>
                  <a:pt x="65516" y="0"/>
                  <a:pt x="146213" y="0"/>
                </a:cubicBezTo>
                <a:close/>
              </a:path>
            </a:pathLst>
          </a:custGeom>
          <a:solidFill>
            <a:srgbClr val="F1CB8F"/>
          </a:solidFill>
          <a:ln/>
        </p:spPr>
      </p:sp>
      <p:sp>
        <p:nvSpPr>
          <p:cNvPr id="10" name="Text 6"/>
          <p:cNvSpPr/>
          <p:nvPr/>
        </p:nvSpPr>
        <p:spPr>
          <a:xfrm>
            <a:off x="4046952" y="3032940"/>
            <a:ext cx="292425" cy="2924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sp>
        <p:nvSpPr>
          <p:cNvPr id="11" name="Shape 7"/>
          <p:cNvSpPr/>
          <p:nvPr/>
        </p:nvSpPr>
        <p:spPr>
          <a:xfrm>
            <a:off x="4432645" y="3032940"/>
            <a:ext cx="292425" cy="292425"/>
          </a:xfrm>
          <a:custGeom>
            <a:avLst/>
            <a:gdLst/>
            <a:ahLst/>
            <a:cxnLst/>
            <a:rect l="l" t="t" r="r" b="b"/>
            <a:pathLst>
              <a:path w="292425" h="292425">
                <a:moveTo>
                  <a:pt x="146213" y="0"/>
                </a:moveTo>
                <a:cubicBezTo>
                  <a:pt x="226909" y="0"/>
                  <a:pt x="292425" y="65516"/>
                  <a:pt x="292425" y="146213"/>
                </a:cubicBezTo>
                <a:cubicBezTo>
                  <a:pt x="292425" y="226909"/>
                  <a:pt x="226909" y="292425"/>
                  <a:pt x="146213" y="292425"/>
                </a:cubicBezTo>
                <a:cubicBezTo>
                  <a:pt x="65516" y="292425"/>
                  <a:pt x="0" y="226909"/>
                  <a:pt x="0" y="146213"/>
                </a:cubicBezTo>
                <a:cubicBezTo>
                  <a:pt x="0" y="65516"/>
                  <a:pt x="65516" y="0"/>
                  <a:pt x="146213" y="0"/>
                </a:cubicBezTo>
                <a:close/>
              </a:path>
            </a:pathLst>
          </a:custGeom>
          <a:solidFill>
            <a:srgbClr val="427092"/>
          </a:solidFill>
          <a:ln/>
        </p:spPr>
      </p:sp>
      <p:sp>
        <p:nvSpPr>
          <p:cNvPr id="12" name="Text 8"/>
          <p:cNvSpPr/>
          <p:nvPr/>
        </p:nvSpPr>
        <p:spPr>
          <a:xfrm>
            <a:off x="4432645" y="3032940"/>
            <a:ext cx="292425" cy="2924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sp>
        <p:nvSpPr>
          <p:cNvPr id="13" name="Shape 9"/>
          <p:cNvSpPr/>
          <p:nvPr/>
        </p:nvSpPr>
        <p:spPr>
          <a:xfrm>
            <a:off x="4818431" y="3032940"/>
            <a:ext cx="292425" cy="292425"/>
          </a:xfrm>
          <a:custGeom>
            <a:avLst/>
            <a:gdLst/>
            <a:ahLst/>
            <a:cxnLst/>
            <a:rect l="l" t="t" r="r" b="b"/>
            <a:pathLst>
              <a:path w="292425" h="292425">
                <a:moveTo>
                  <a:pt x="146213" y="0"/>
                </a:moveTo>
                <a:cubicBezTo>
                  <a:pt x="226909" y="0"/>
                  <a:pt x="292425" y="65516"/>
                  <a:pt x="292425" y="146213"/>
                </a:cubicBezTo>
                <a:cubicBezTo>
                  <a:pt x="292425" y="226909"/>
                  <a:pt x="226909" y="292425"/>
                  <a:pt x="146213" y="292425"/>
                </a:cubicBezTo>
                <a:cubicBezTo>
                  <a:pt x="65516" y="292425"/>
                  <a:pt x="0" y="226909"/>
                  <a:pt x="0" y="146213"/>
                </a:cubicBezTo>
                <a:cubicBezTo>
                  <a:pt x="0" y="65516"/>
                  <a:pt x="65516" y="0"/>
                  <a:pt x="146213" y="0"/>
                </a:cubicBezTo>
                <a:close/>
              </a:path>
            </a:pathLst>
          </a:custGeom>
          <a:solidFill>
            <a:srgbClr val="F1CB8F"/>
          </a:solidFill>
          <a:ln/>
        </p:spPr>
      </p:sp>
      <p:sp>
        <p:nvSpPr>
          <p:cNvPr id="14" name="Text 10"/>
          <p:cNvSpPr/>
          <p:nvPr/>
        </p:nvSpPr>
        <p:spPr>
          <a:xfrm>
            <a:off x="4818431" y="3032940"/>
            <a:ext cx="292425" cy="2924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404961" y="1474006"/>
            <a:ext cx="347886" cy="38471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404961" y="1474006"/>
            <a:ext cx="347886" cy="3847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-12893"/>
            <a:ext cx="9157807" cy="516919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-12893"/>
            <a:ext cx="9157807" cy="51691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44057" y="-12893"/>
            <a:ext cx="3213293" cy="507684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944057" y="-12893"/>
            <a:ext cx="3213293" cy="5076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sp>
        <p:nvSpPr>
          <p:cNvPr id="6" name="Shape 2"/>
          <p:cNvSpPr/>
          <p:nvPr/>
        </p:nvSpPr>
        <p:spPr>
          <a:xfrm>
            <a:off x="146304" y="128016"/>
            <a:ext cx="8833104" cy="4873752"/>
          </a:xfrm>
          <a:custGeom>
            <a:avLst/>
            <a:gdLst/>
            <a:ahLst/>
            <a:cxnLst/>
            <a:rect l="l" t="t" r="r" b="b"/>
            <a:pathLst>
              <a:path w="8833104" h="4873752">
                <a:moveTo>
                  <a:pt x="0" y="0"/>
                </a:moveTo>
                <a:lnTo>
                  <a:pt x="8833104" y="0"/>
                </a:lnTo>
                <a:lnTo>
                  <a:pt x="8833104" y="4873752"/>
                </a:lnTo>
                <a:lnTo>
                  <a:pt x="0" y="4873752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" name="Text 3"/>
          <p:cNvSpPr/>
          <p:nvPr/>
        </p:nvSpPr>
        <p:spPr>
          <a:xfrm>
            <a:off x="146304" y="128016"/>
            <a:ext cx="8833104" cy="4873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pic>
        <p:nvPicPr>
          <p:cNvPr id="8" name="Image 2" descr="https://static.yipigai.cn/public/muban/3/nr-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6304" y="2779776"/>
            <a:ext cx="8833104" cy="2226564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308153" y="410017"/>
            <a:ext cx="158557" cy="158557"/>
          </a:xfrm>
          <a:custGeom>
            <a:avLst/>
            <a:gdLst/>
            <a:ahLst/>
            <a:cxnLst/>
            <a:rect l="l" t="t" r="r" b="b"/>
            <a:pathLst>
              <a:path w="158557" h="158557">
                <a:moveTo>
                  <a:pt x="79278" y="0"/>
                </a:moveTo>
                <a:cubicBezTo>
                  <a:pt x="123033" y="0"/>
                  <a:pt x="158557" y="35523"/>
                  <a:pt x="158557" y="79278"/>
                </a:cubicBezTo>
                <a:cubicBezTo>
                  <a:pt x="158557" y="123033"/>
                  <a:pt x="123033" y="158557"/>
                  <a:pt x="79278" y="158557"/>
                </a:cubicBezTo>
                <a:cubicBezTo>
                  <a:pt x="35523" y="158557"/>
                  <a:pt x="0" y="123033"/>
                  <a:pt x="0" y="79278"/>
                </a:cubicBezTo>
                <a:cubicBezTo>
                  <a:pt x="0" y="35523"/>
                  <a:pt x="35523" y="0"/>
                  <a:pt x="79278" y="0"/>
                </a:cubicBezTo>
                <a:close/>
              </a:path>
            </a:pathLst>
          </a:custGeom>
          <a:solidFill>
            <a:srgbClr val="427092"/>
          </a:solidFill>
          <a:ln/>
        </p:spPr>
      </p:sp>
      <p:sp>
        <p:nvSpPr>
          <p:cNvPr id="10" name="Text 5"/>
          <p:cNvSpPr/>
          <p:nvPr/>
        </p:nvSpPr>
        <p:spPr>
          <a:xfrm>
            <a:off x="308153" y="410017"/>
            <a:ext cx="158557" cy="1585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sp>
        <p:nvSpPr>
          <p:cNvPr id="11" name="Text 6"/>
          <p:cNvSpPr/>
          <p:nvPr/>
        </p:nvSpPr>
        <p:spPr>
          <a:xfrm>
            <a:off x="538124" y="237744"/>
            <a:ext cx="3413364" cy="4572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75"/>
              </a:spcBef>
              <a:buNone/>
            </a:pPr>
            <a:r>
              <a:rPr lang="en-US" sz="1800" b="1" dirty="0">
                <a:solidFill>
                  <a:srgbClr val="427092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5.1 单步反应计算</a:t>
            </a:r>
            <a:endParaRPr lang="en-US" sz="22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969264"/>
            <a:ext cx="7863840" cy="3245834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-12893"/>
            <a:ext cx="9157807" cy="516919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-12893"/>
            <a:ext cx="9157807" cy="51691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44057" y="-12893"/>
            <a:ext cx="3213293" cy="507684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944057" y="-12893"/>
            <a:ext cx="3213293" cy="5076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sp>
        <p:nvSpPr>
          <p:cNvPr id="6" name="Shape 2"/>
          <p:cNvSpPr/>
          <p:nvPr/>
        </p:nvSpPr>
        <p:spPr>
          <a:xfrm>
            <a:off x="146304" y="128016"/>
            <a:ext cx="8833104" cy="4873752"/>
          </a:xfrm>
          <a:custGeom>
            <a:avLst/>
            <a:gdLst/>
            <a:ahLst/>
            <a:cxnLst/>
            <a:rect l="l" t="t" r="r" b="b"/>
            <a:pathLst>
              <a:path w="8833104" h="4873752">
                <a:moveTo>
                  <a:pt x="0" y="0"/>
                </a:moveTo>
                <a:lnTo>
                  <a:pt x="8833104" y="0"/>
                </a:lnTo>
                <a:lnTo>
                  <a:pt x="8833104" y="4873752"/>
                </a:lnTo>
                <a:lnTo>
                  <a:pt x="0" y="4873752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" name="Text 3"/>
          <p:cNvSpPr/>
          <p:nvPr/>
        </p:nvSpPr>
        <p:spPr>
          <a:xfrm>
            <a:off x="146304" y="128016"/>
            <a:ext cx="8833104" cy="4873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pic>
        <p:nvPicPr>
          <p:cNvPr id="8" name="Image 2" descr="https://static.yipigai.cn/public/muban/3/nr-2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6304" y="3127248"/>
            <a:ext cx="8833104" cy="2782519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308153" y="410017"/>
            <a:ext cx="158557" cy="158557"/>
          </a:xfrm>
          <a:custGeom>
            <a:avLst/>
            <a:gdLst/>
            <a:ahLst/>
            <a:cxnLst/>
            <a:rect l="l" t="t" r="r" b="b"/>
            <a:pathLst>
              <a:path w="158557" h="158557">
                <a:moveTo>
                  <a:pt x="79278" y="0"/>
                </a:moveTo>
                <a:cubicBezTo>
                  <a:pt x="123033" y="0"/>
                  <a:pt x="158557" y="35523"/>
                  <a:pt x="158557" y="79278"/>
                </a:cubicBezTo>
                <a:cubicBezTo>
                  <a:pt x="158557" y="123033"/>
                  <a:pt x="123033" y="158557"/>
                  <a:pt x="79278" y="158557"/>
                </a:cubicBezTo>
                <a:cubicBezTo>
                  <a:pt x="35523" y="158557"/>
                  <a:pt x="0" y="123033"/>
                  <a:pt x="0" y="79278"/>
                </a:cubicBezTo>
                <a:cubicBezTo>
                  <a:pt x="0" y="35523"/>
                  <a:pt x="35523" y="0"/>
                  <a:pt x="79278" y="0"/>
                </a:cubicBezTo>
                <a:close/>
              </a:path>
            </a:pathLst>
          </a:custGeom>
          <a:solidFill>
            <a:srgbClr val="427092"/>
          </a:solidFill>
          <a:ln/>
        </p:spPr>
      </p:sp>
      <p:sp>
        <p:nvSpPr>
          <p:cNvPr id="10" name="Text 5"/>
          <p:cNvSpPr/>
          <p:nvPr/>
        </p:nvSpPr>
        <p:spPr>
          <a:xfrm>
            <a:off x="308153" y="410017"/>
            <a:ext cx="158557" cy="1585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sp>
        <p:nvSpPr>
          <p:cNvPr id="11" name="Text 6"/>
          <p:cNvSpPr/>
          <p:nvPr/>
        </p:nvSpPr>
        <p:spPr>
          <a:xfrm>
            <a:off x="538124" y="237744"/>
            <a:ext cx="3413364" cy="4572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75"/>
              </a:spcBef>
              <a:buNone/>
            </a:pPr>
            <a:r>
              <a:rPr lang="en-US" sz="1800" b="1" dirty="0">
                <a:solidFill>
                  <a:srgbClr val="427092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5.1 单步反应计算</a:t>
            </a:r>
            <a:endParaRPr lang="en-US" sz="22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969264"/>
            <a:ext cx="7863840" cy="1445609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-12893"/>
            <a:ext cx="9157807" cy="516919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-12893"/>
            <a:ext cx="9157807" cy="51691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44057" y="-12893"/>
            <a:ext cx="3213293" cy="507684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944057" y="-12893"/>
            <a:ext cx="3213293" cy="5076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sp>
        <p:nvSpPr>
          <p:cNvPr id="6" name="Shape 2"/>
          <p:cNvSpPr/>
          <p:nvPr/>
        </p:nvSpPr>
        <p:spPr>
          <a:xfrm>
            <a:off x="146304" y="128016"/>
            <a:ext cx="8833104" cy="4873752"/>
          </a:xfrm>
          <a:custGeom>
            <a:avLst/>
            <a:gdLst/>
            <a:ahLst/>
            <a:cxnLst/>
            <a:rect l="l" t="t" r="r" b="b"/>
            <a:pathLst>
              <a:path w="8833104" h="4873752">
                <a:moveTo>
                  <a:pt x="0" y="0"/>
                </a:moveTo>
                <a:lnTo>
                  <a:pt x="8833104" y="0"/>
                </a:lnTo>
                <a:lnTo>
                  <a:pt x="8833104" y="4873752"/>
                </a:lnTo>
                <a:lnTo>
                  <a:pt x="0" y="4873752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" name="Text 3"/>
          <p:cNvSpPr/>
          <p:nvPr/>
        </p:nvSpPr>
        <p:spPr>
          <a:xfrm>
            <a:off x="146304" y="128016"/>
            <a:ext cx="8833104" cy="4873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pic>
        <p:nvPicPr>
          <p:cNvPr id="8" name="Image 2" descr="https://static.yipigai.cn/public/muban/3/nr-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6304" y="2779776"/>
            <a:ext cx="8833104" cy="2226564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308153" y="410017"/>
            <a:ext cx="158557" cy="158557"/>
          </a:xfrm>
          <a:custGeom>
            <a:avLst/>
            <a:gdLst/>
            <a:ahLst/>
            <a:cxnLst/>
            <a:rect l="l" t="t" r="r" b="b"/>
            <a:pathLst>
              <a:path w="158557" h="158557">
                <a:moveTo>
                  <a:pt x="79278" y="0"/>
                </a:moveTo>
                <a:cubicBezTo>
                  <a:pt x="123033" y="0"/>
                  <a:pt x="158557" y="35523"/>
                  <a:pt x="158557" y="79278"/>
                </a:cubicBezTo>
                <a:cubicBezTo>
                  <a:pt x="158557" y="123033"/>
                  <a:pt x="123033" y="158557"/>
                  <a:pt x="79278" y="158557"/>
                </a:cubicBezTo>
                <a:cubicBezTo>
                  <a:pt x="35523" y="158557"/>
                  <a:pt x="0" y="123033"/>
                  <a:pt x="0" y="79278"/>
                </a:cubicBezTo>
                <a:cubicBezTo>
                  <a:pt x="0" y="35523"/>
                  <a:pt x="35523" y="0"/>
                  <a:pt x="79278" y="0"/>
                </a:cubicBezTo>
                <a:close/>
              </a:path>
            </a:pathLst>
          </a:custGeom>
          <a:solidFill>
            <a:srgbClr val="427092"/>
          </a:solidFill>
          <a:ln/>
        </p:spPr>
      </p:sp>
      <p:sp>
        <p:nvSpPr>
          <p:cNvPr id="10" name="Text 5"/>
          <p:cNvSpPr/>
          <p:nvPr/>
        </p:nvSpPr>
        <p:spPr>
          <a:xfrm>
            <a:off x="308153" y="410017"/>
            <a:ext cx="158557" cy="1585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sp>
        <p:nvSpPr>
          <p:cNvPr id="11" name="Text 6"/>
          <p:cNvSpPr/>
          <p:nvPr/>
        </p:nvSpPr>
        <p:spPr>
          <a:xfrm>
            <a:off x="538124" y="237744"/>
            <a:ext cx="3413364" cy="4572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75"/>
              </a:spcBef>
              <a:buNone/>
            </a:pPr>
            <a:r>
              <a:rPr lang="en-US" sz="1800" b="1" dirty="0">
                <a:solidFill>
                  <a:srgbClr val="427092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5.2 单步反应计算</a:t>
            </a:r>
            <a:endParaRPr lang="en-US" sz="22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969264"/>
            <a:ext cx="7863840" cy="2456307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-12893"/>
            <a:ext cx="9157807" cy="516919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-12893"/>
            <a:ext cx="9157807" cy="51691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44057" y="-12893"/>
            <a:ext cx="3213293" cy="507684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944057" y="-12893"/>
            <a:ext cx="3213293" cy="5076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sp>
        <p:nvSpPr>
          <p:cNvPr id="6" name="Shape 2"/>
          <p:cNvSpPr/>
          <p:nvPr/>
        </p:nvSpPr>
        <p:spPr>
          <a:xfrm>
            <a:off x="146304" y="128016"/>
            <a:ext cx="8833104" cy="4873752"/>
          </a:xfrm>
          <a:custGeom>
            <a:avLst/>
            <a:gdLst/>
            <a:ahLst/>
            <a:cxnLst/>
            <a:rect l="l" t="t" r="r" b="b"/>
            <a:pathLst>
              <a:path w="8833104" h="4873752">
                <a:moveTo>
                  <a:pt x="0" y="0"/>
                </a:moveTo>
                <a:lnTo>
                  <a:pt x="8833104" y="0"/>
                </a:lnTo>
                <a:lnTo>
                  <a:pt x="8833104" y="4873752"/>
                </a:lnTo>
                <a:lnTo>
                  <a:pt x="0" y="4873752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" name="Text 3"/>
          <p:cNvSpPr/>
          <p:nvPr/>
        </p:nvSpPr>
        <p:spPr>
          <a:xfrm>
            <a:off x="146304" y="128016"/>
            <a:ext cx="8833104" cy="4873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pic>
        <p:nvPicPr>
          <p:cNvPr id="8" name="Image 2" descr="https://static.yipigai.cn/public/muban/3/nr-2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6304" y="3127248"/>
            <a:ext cx="8833104" cy="2782519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308153" y="410017"/>
            <a:ext cx="158557" cy="158557"/>
          </a:xfrm>
          <a:custGeom>
            <a:avLst/>
            <a:gdLst/>
            <a:ahLst/>
            <a:cxnLst/>
            <a:rect l="l" t="t" r="r" b="b"/>
            <a:pathLst>
              <a:path w="158557" h="158557">
                <a:moveTo>
                  <a:pt x="79278" y="0"/>
                </a:moveTo>
                <a:cubicBezTo>
                  <a:pt x="123033" y="0"/>
                  <a:pt x="158557" y="35523"/>
                  <a:pt x="158557" y="79278"/>
                </a:cubicBezTo>
                <a:cubicBezTo>
                  <a:pt x="158557" y="123033"/>
                  <a:pt x="123033" y="158557"/>
                  <a:pt x="79278" y="158557"/>
                </a:cubicBezTo>
                <a:cubicBezTo>
                  <a:pt x="35523" y="158557"/>
                  <a:pt x="0" y="123033"/>
                  <a:pt x="0" y="79278"/>
                </a:cubicBezTo>
                <a:cubicBezTo>
                  <a:pt x="0" y="35523"/>
                  <a:pt x="35523" y="0"/>
                  <a:pt x="79278" y="0"/>
                </a:cubicBezTo>
                <a:close/>
              </a:path>
            </a:pathLst>
          </a:custGeom>
          <a:solidFill>
            <a:srgbClr val="427092"/>
          </a:solidFill>
          <a:ln/>
        </p:spPr>
      </p:sp>
      <p:sp>
        <p:nvSpPr>
          <p:cNvPr id="10" name="Text 5"/>
          <p:cNvSpPr/>
          <p:nvPr/>
        </p:nvSpPr>
        <p:spPr>
          <a:xfrm>
            <a:off x="308153" y="410017"/>
            <a:ext cx="158557" cy="1585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sp>
        <p:nvSpPr>
          <p:cNvPr id="11" name="Text 6"/>
          <p:cNvSpPr/>
          <p:nvPr/>
        </p:nvSpPr>
        <p:spPr>
          <a:xfrm>
            <a:off x="538124" y="237744"/>
            <a:ext cx="3413364" cy="4572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75"/>
              </a:spcBef>
              <a:buNone/>
            </a:pPr>
            <a:r>
              <a:rPr lang="en-US" sz="1800" b="1" dirty="0">
                <a:solidFill>
                  <a:srgbClr val="427092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5.3 多步反应计算</a:t>
            </a:r>
            <a:endParaRPr lang="en-US" sz="22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969264"/>
            <a:ext cx="7863840" cy="3092672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-12893"/>
            <a:ext cx="9157807" cy="516919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-12893"/>
            <a:ext cx="9157807" cy="51691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44057" y="-12893"/>
            <a:ext cx="3213293" cy="507684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944057" y="-12893"/>
            <a:ext cx="3213293" cy="5076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sp>
        <p:nvSpPr>
          <p:cNvPr id="6" name="Shape 2"/>
          <p:cNvSpPr/>
          <p:nvPr/>
        </p:nvSpPr>
        <p:spPr>
          <a:xfrm>
            <a:off x="146304" y="128016"/>
            <a:ext cx="8833104" cy="4873752"/>
          </a:xfrm>
          <a:custGeom>
            <a:avLst/>
            <a:gdLst/>
            <a:ahLst/>
            <a:cxnLst/>
            <a:rect l="l" t="t" r="r" b="b"/>
            <a:pathLst>
              <a:path w="8833104" h="4873752">
                <a:moveTo>
                  <a:pt x="0" y="0"/>
                </a:moveTo>
                <a:lnTo>
                  <a:pt x="8833104" y="0"/>
                </a:lnTo>
                <a:lnTo>
                  <a:pt x="8833104" y="4873752"/>
                </a:lnTo>
                <a:lnTo>
                  <a:pt x="0" y="4873752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" name="Text 3"/>
          <p:cNvSpPr/>
          <p:nvPr/>
        </p:nvSpPr>
        <p:spPr>
          <a:xfrm>
            <a:off x="146304" y="128016"/>
            <a:ext cx="8833104" cy="4873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pic>
        <p:nvPicPr>
          <p:cNvPr id="8" name="Image 2" descr="https://static.yipigai.cn/public/muban/3/nr-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6304" y="2779776"/>
            <a:ext cx="8833104" cy="2226564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308153" y="410017"/>
            <a:ext cx="158557" cy="158557"/>
          </a:xfrm>
          <a:custGeom>
            <a:avLst/>
            <a:gdLst/>
            <a:ahLst/>
            <a:cxnLst/>
            <a:rect l="l" t="t" r="r" b="b"/>
            <a:pathLst>
              <a:path w="158557" h="158557">
                <a:moveTo>
                  <a:pt x="79278" y="0"/>
                </a:moveTo>
                <a:cubicBezTo>
                  <a:pt x="123033" y="0"/>
                  <a:pt x="158557" y="35523"/>
                  <a:pt x="158557" y="79278"/>
                </a:cubicBezTo>
                <a:cubicBezTo>
                  <a:pt x="158557" y="123033"/>
                  <a:pt x="123033" y="158557"/>
                  <a:pt x="79278" y="158557"/>
                </a:cubicBezTo>
                <a:cubicBezTo>
                  <a:pt x="35523" y="158557"/>
                  <a:pt x="0" y="123033"/>
                  <a:pt x="0" y="79278"/>
                </a:cubicBezTo>
                <a:cubicBezTo>
                  <a:pt x="0" y="35523"/>
                  <a:pt x="35523" y="0"/>
                  <a:pt x="79278" y="0"/>
                </a:cubicBezTo>
                <a:close/>
              </a:path>
            </a:pathLst>
          </a:custGeom>
          <a:solidFill>
            <a:srgbClr val="427092"/>
          </a:solidFill>
          <a:ln/>
        </p:spPr>
      </p:sp>
      <p:sp>
        <p:nvSpPr>
          <p:cNvPr id="10" name="Text 5"/>
          <p:cNvSpPr/>
          <p:nvPr/>
        </p:nvSpPr>
        <p:spPr>
          <a:xfrm>
            <a:off x="308153" y="410017"/>
            <a:ext cx="158557" cy="1585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sp>
        <p:nvSpPr>
          <p:cNvPr id="11" name="Text 6"/>
          <p:cNvSpPr/>
          <p:nvPr/>
        </p:nvSpPr>
        <p:spPr>
          <a:xfrm>
            <a:off x="538124" y="237744"/>
            <a:ext cx="3413364" cy="4572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75"/>
              </a:spcBef>
              <a:buNone/>
            </a:pPr>
            <a:r>
              <a:rPr lang="en-US" sz="1800" b="1" dirty="0">
                <a:solidFill>
                  <a:srgbClr val="427092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5.3 多步反应计算</a:t>
            </a:r>
            <a:endParaRPr lang="en-US" sz="22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969264"/>
            <a:ext cx="7863840" cy="2947511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-12893"/>
            <a:ext cx="9157807" cy="516919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-12893"/>
            <a:ext cx="9157807" cy="51691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44057" y="-12893"/>
            <a:ext cx="3213293" cy="507684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944057" y="-12893"/>
            <a:ext cx="3213293" cy="5076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sp>
        <p:nvSpPr>
          <p:cNvPr id="6" name="Shape 2"/>
          <p:cNvSpPr/>
          <p:nvPr/>
        </p:nvSpPr>
        <p:spPr>
          <a:xfrm>
            <a:off x="146304" y="128016"/>
            <a:ext cx="8833104" cy="4873752"/>
          </a:xfrm>
          <a:custGeom>
            <a:avLst/>
            <a:gdLst/>
            <a:ahLst/>
            <a:cxnLst/>
            <a:rect l="l" t="t" r="r" b="b"/>
            <a:pathLst>
              <a:path w="8833104" h="4873752">
                <a:moveTo>
                  <a:pt x="0" y="0"/>
                </a:moveTo>
                <a:lnTo>
                  <a:pt x="8833104" y="0"/>
                </a:lnTo>
                <a:lnTo>
                  <a:pt x="8833104" y="4873752"/>
                </a:lnTo>
                <a:lnTo>
                  <a:pt x="0" y="4873752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" name="Text 3"/>
          <p:cNvSpPr/>
          <p:nvPr/>
        </p:nvSpPr>
        <p:spPr>
          <a:xfrm>
            <a:off x="146304" y="128016"/>
            <a:ext cx="8833104" cy="4873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pic>
        <p:nvPicPr>
          <p:cNvPr id="8" name="Image 2" descr="https://static.yipigai.cn/public/muban/3/nr-2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6304" y="3127248"/>
            <a:ext cx="8833104" cy="2782519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308153" y="410017"/>
            <a:ext cx="158557" cy="158557"/>
          </a:xfrm>
          <a:custGeom>
            <a:avLst/>
            <a:gdLst/>
            <a:ahLst/>
            <a:cxnLst/>
            <a:rect l="l" t="t" r="r" b="b"/>
            <a:pathLst>
              <a:path w="158557" h="158557">
                <a:moveTo>
                  <a:pt x="79278" y="0"/>
                </a:moveTo>
                <a:cubicBezTo>
                  <a:pt x="123033" y="0"/>
                  <a:pt x="158557" y="35523"/>
                  <a:pt x="158557" y="79278"/>
                </a:cubicBezTo>
                <a:cubicBezTo>
                  <a:pt x="158557" y="123033"/>
                  <a:pt x="123033" y="158557"/>
                  <a:pt x="79278" y="158557"/>
                </a:cubicBezTo>
                <a:cubicBezTo>
                  <a:pt x="35523" y="158557"/>
                  <a:pt x="0" y="123033"/>
                  <a:pt x="0" y="79278"/>
                </a:cubicBezTo>
                <a:cubicBezTo>
                  <a:pt x="0" y="35523"/>
                  <a:pt x="35523" y="0"/>
                  <a:pt x="79278" y="0"/>
                </a:cubicBezTo>
                <a:close/>
              </a:path>
            </a:pathLst>
          </a:custGeom>
          <a:solidFill>
            <a:srgbClr val="427092"/>
          </a:solidFill>
          <a:ln/>
        </p:spPr>
      </p:sp>
      <p:sp>
        <p:nvSpPr>
          <p:cNvPr id="10" name="Text 5"/>
          <p:cNvSpPr/>
          <p:nvPr/>
        </p:nvSpPr>
        <p:spPr>
          <a:xfrm>
            <a:off x="308153" y="410017"/>
            <a:ext cx="158557" cy="1585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sp>
        <p:nvSpPr>
          <p:cNvPr id="11" name="Text 6"/>
          <p:cNvSpPr/>
          <p:nvPr/>
        </p:nvSpPr>
        <p:spPr>
          <a:xfrm>
            <a:off x="538124" y="237744"/>
            <a:ext cx="3413364" cy="4572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75"/>
              </a:spcBef>
              <a:buNone/>
            </a:pPr>
            <a:r>
              <a:rPr lang="en-US" sz="1800" b="1" dirty="0">
                <a:solidFill>
                  <a:srgbClr val="427092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5.4 多步反应计算</a:t>
            </a:r>
            <a:endParaRPr lang="en-US" sz="22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969264"/>
            <a:ext cx="7863840" cy="2754059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-12893"/>
            <a:ext cx="9157807" cy="516919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-12893"/>
            <a:ext cx="9157807" cy="51691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44057" y="-12893"/>
            <a:ext cx="3213293" cy="507684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944057" y="-12893"/>
            <a:ext cx="3213293" cy="5076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sp>
        <p:nvSpPr>
          <p:cNvPr id="6" name="Shape 2"/>
          <p:cNvSpPr/>
          <p:nvPr/>
        </p:nvSpPr>
        <p:spPr>
          <a:xfrm>
            <a:off x="146304" y="128016"/>
            <a:ext cx="8833104" cy="4873752"/>
          </a:xfrm>
          <a:custGeom>
            <a:avLst/>
            <a:gdLst/>
            <a:ahLst/>
            <a:cxnLst/>
            <a:rect l="l" t="t" r="r" b="b"/>
            <a:pathLst>
              <a:path w="8833104" h="4873752">
                <a:moveTo>
                  <a:pt x="0" y="0"/>
                </a:moveTo>
                <a:lnTo>
                  <a:pt x="8833104" y="0"/>
                </a:lnTo>
                <a:lnTo>
                  <a:pt x="8833104" y="4873752"/>
                </a:lnTo>
                <a:lnTo>
                  <a:pt x="0" y="4873752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" name="Text 3"/>
          <p:cNvSpPr/>
          <p:nvPr/>
        </p:nvSpPr>
        <p:spPr>
          <a:xfrm>
            <a:off x="146304" y="128016"/>
            <a:ext cx="8833104" cy="4873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pic>
        <p:nvPicPr>
          <p:cNvPr id="8" name="Image 2" descr="https://static.yipigai.cn/public/muban/3/nr-2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6304" y="3127248"/>
            <a:ext cx="8833104" cy="2782519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308153" y="410017"/>
            <a:ext cx="158557" cy="158557"/>
          </a:xfrm>
          <a:custGeom>
            <a:avLst/>
            <a:gdLst/>
            <a:ahLst/>
            <a:cxnLst/>
            <a:rect l="l" t="t" r="r" b="b"/>
            <a:pathLst>
              <a:path w="158557" h="158557">
                <a:moveTo>
                  <a:pt x="79278" y="0"/>
                </a:moveTo>
                <a:cubicBezTo>
                  <a:pt x="123033" y="0"/>
                  <a:pt x="158557" y="35523"/>
                  <a:pt x="158557" y="79278"/>
                </a:cubicBezTo>
                <a:cubicBezTo>
                  <a:pt x="158557" y="123033"/>
                  <a:pt x="123033" y="158557"/>
                  <a:pt x="79278" y="158557"/>
                </a:cubicBezTo>
                <a:cubicBezTo>
                  <a:pt x="35523" y="158557"/>
                  <a:pt x="0" y="123033"/>
                  <a:pt x="0" y="79278"/>
                </a:cubicBezTo>
                <a:cubicBezTo>
                  <a:pt x="0" y="35523"/>
                  <a:pt x="35523" y="0"/>
                  <a:pt x="79278" y="0"/>
                </a:cubicBezTo>
                <a:close/>
              </a:path>
            </a:pathLst>
          </a:custGeom>
          <a:solidFill>
            <a:srgbClr val="427092"/>
          </a:solidFill>
          <a:ln/>
        </p:spPr>
      </p:sp>
      <p:sp>
        <p:nvSpPr>
          <p:cNvPr id="10" name="Text 5"/>
          <p:cNvSpPr/>
          <p:nvPr/>
        </p:nvSpPr>
        <p:spPr>
          <a:xfrm>
            <a:off x="308153" y="410017"/>
            <a:ext cx="158557" cy="1585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sp>
        <p:nvSpPr>
          <p:cNvPr id="11" name="Text 6"/>
          <p:cNvSpPr/>
          <p:nvPr/>
        </p:nvSpPr>
        <p:spPr>
          <a:xfrm>
            <a:off x="538124" y="237744"/>
            <a:ext cx="3413364" cy="4572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75"/>
              </a:spcBef>
              <a:buNone/>
            </a:pPr>
            <a:r>
              <a:rPr lang="en-US" sz="1800" b="1" dirty="0">
                <a:solidFill>
                  <a:srgbClr val="427092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5.4 多步反应计算</a:t>
            </a:r>
            <a:endParaRPr lang="en-US" sz="22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969264"/>
            <a:ext cx="7863840" cy="2391728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-12893"/>
            <a:ext cx="9157807" cy="516919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-12893"/>
            <a:ext cx="9157807" cy="51691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44057" y="-12893"/>
            <a:ext cx="3213293" cy="507684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944057" y="-12893"/>
            <a:ext cx="3213293" cy="5076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sp>
        <p:nvSpPr>
          <p:cNvPr id="6" name="Shape 2"/>
          <p:cNvSpPr/>
          <p:nvPr/>
        </p:nvSpPr>
        <p:spPr>
          <a:xfrm>
            <a:off x="153619" y="132679"/>
            <a:ext cx="8836853" cy="4878233"/>
          </a:xfrm>
          <a:custGeom>
            <a:avLst/>
            <a:gdLst/>
            <a:ahLst/>
            <a:cxnLst/>
            <a:rect l="l" t="t" r="r" b="b"/>
            <a:pathLst>
              <a:path w="8836853" h="4878233">
                <a:moveTo>
                  <a:pt x="0" y="0"/>
                </a:moveTo>
                <a:lnTo>
                  <a:pt x="8836853" y="0"/>
                </a:lnTo>
                <a:lnTo>
                  <a:pt x="8836853" y="4878233"/>
                </a:lnTo>
                <a:lnTo>
                  <a:pt x="0" y="4878233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" name="Text 3"/>
          <p:cNvSpPr/>
          <p:nvPr/>
        </p:nvSpPr>
        <p:spPr>
          <a:xfrm>
            <a:off x="153619" y="132679"/>
            <a:ext cx="8836853" cy="487823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sp>
        <p:nvSpPr>
          <p:cNvPr id="8" name="Text 4"/>
          <p:cNvSpPr/>
          <p:nvPr/>
        </p:nvSpPr>
        <p:spPr>
          <a:xfrm>
            <a:off x="2544242" y="2084556"/>
            <a:ext cx="4361657" cy="63093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algn="ctr" indent="0" marL="0">
              <a:lnSpc>
                <a:spcPct val="80000"/>
              </a:lnSpc>
              <a:spcBef>
                <a:spcPts val="375"/>
              </a:spcBef>
              <a:buNone/>
            </a:pPr>
            <a:r>
              <a:rPr lang="en-US" sz="3675" dirty="0">
                <a:solidFill>
                  <a:srgbClr val="427092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6 易错辨析</a:t>
            </a:r>
            <a:endParaRPr lang="en-US" sz="2250" dirty="0"/>
          </a:p>
        </p:txBody>
      </p:sp>
      <p:sp>
        <p:nvSpPr>
          <p:cNvPr id="9" name="Shape 5"/>
          <p:cNvSpPr/>
          <p:nvPr/>
        </p:nvSpPr>
        <p:spPr>
          <a:xfrm>
            <a:off x="4046952" y="3032940"/>
            <a:ext cx="292425" cy="292425"/>
          </a:xfrm>
          <a:custGeom>
            <a:avLst/>
            <a:gdLst/>
            <a:ahLst/>
            <a:cxnLst/>
            <a:rect l="l" t="t" r="r" b="b"/>
            <a:pathLst>
              <a:path w="292425" h="292425">
                <a:moveTo>
                  <a:pt x="146213" y="0"/>
                </a:moveTo>
                <a:cubicBezTo>
                  <a:pt x="226909" y="0"/>
                  <a:pt x="292425" y="65516"/>
                  <a:pt x="292425" y="146213"/>
                </a:cubicBezTo>
                <a:cubicBezTo>
                  <a:pt x="292425" y="226909"/>
                  <a:pt x="226909" y="292425"/>
                  <a:pt x="146213" y="292425"/>
                </a:cubicBezTo>
                <a:cubicBezTo>
                  <a:pt x="65516" y="292425"/>
                  <a:pt x="0" y="226909"/>
                  <a:pt x="0" y="146213"/>
                </a:cubicBezTo>
                <a:cubicBezTo>
                  <a:pt x="0" y="65516"/>
                  <a:pt x="65516" y="0"/>
                  <a:pt x="146213" y="0"/>
                </a:cubicBezTo>
                <a:close/>
              </a:path>
            </a:pathLst>
          </a:custGeom>
          <a:solidFill>
            <a:srgbClr val="F1CB8F"/>
          </a:solidFill>
          <a:ln/>
        </p:spPr>
      </p:sp>
      <p:sp>
        <p:nvSpPr>
          <p:cNvPr id="10" name="Text 6"/>
          <p:cNvSpPr/>
          <p:nvPr/>
        </p:nvSpPr>
        <p:spPr>
          <a:xfrm>
            <a:off x="4046952" y="3032940"/>
            <a:ext cx="292425" cy="2924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sp>
        <p:nvSpPr>
          <p:cNvPr id="11" name="Shape 7"/>
          <p:cNvSpPr/>
          <p:nvPr/>
        </p:nvSpPr>
        <p:spPr>
          <a:xfrm>
            <a:off x="4432645" y="3032940"/>
            <a:ext cx="292425" cy="292425"/>
          </a:xfrm>
          <a:custGeom>
            <a:avLst/>
            <a:gdLst/>
            <a:ahLst/>
            <a:cxnLst/>
            <a:rect l="l" t="t" r="r" b="b"/>
            <a:pathLst>
              <a:path w="292425" h="292425">
                <a:moveTo>
                  <a:pt x="146213" y="0"/>
                </a:moveTo>
                <a:cubicBezTo>
                  <a:pt x="226909" y="0"/>
                  <a:pt x="292425" y="65516"/>
                  <a:pt x="292425" y="146213"/>
                </a:cubicBezTo>
                <a:cubicBezTo>
                  <a:pt x="292425" y="226909"/>
                  <a:pt x="226909" y="292425"/>
                  <a:pt x="146213" y="292425"/>
                </a:cubicBezTo>
                <a:cubicBezTo>
                  <a:pt x="65516" y="292425"/>
                  <a:pt x="0" y="226909"/>
                  <a:pt x="0" y="146213"/>
                </a:cubicBezTo>
                <a:cubicBezTo>
                  <a:pt x="0" y="65516"/>
                  <a:pt x="65516" y="0"/>
                  <a:pt x="146213" y="0"/>
                </a:cubicBezTo>
                <a:close/>
              </a:path>
            </a:pathLst>
          </a:custGeom>
          <a:solidFill>
            <a:srgbClr val="427092"/>
          </a:solidFill>
          <a:ln/>
        </p:spPr>
      </p:sp>
      <p:sp>
        <p:nvSpPr>
          <p:cNvPr id="12" name="Text 8"/>
          <p:cNvSpPr/>
          <p:nvPr/>
        </p:nvSpPr>
        <p:spPr>
          <a:xfrm>
            <a:off x="4432645" y="3032940"/>
            <a:ext cx="292425" cy="2924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sp>
        <p:nvSpPr>
          <p:cNvPr id="13" name="Shape 9"/>
          <p:cNvSpPr/>
          <p:nvPr/>
        </p:nvSpPr>
        <p:spPr>
          <a:xfrm>
            <a:off x="4818431" y="3032940"/>
            <a:ext cx="292425" cy="292425"/>
          </a:xfrm>
          <a:custGeom>
            <a:avLst/>
            <a:gdLst/>
            <a:ahLst/>
            <a:cxnLst/>
            <a:rect l="l" t="t" r="r" b="b"/>
            <a:pathLst>
              <a:path w="292425" h="292425">
                <a:moveTo>
                  <a:pt x="146213" y="0"/>
                </a:moveTo>
                <a:cubicBezTo>
                  <a:pt x="226909" y="0"/>
                  <a:pt x="292425" y="65516"/>
                  <a:pt x="292425" y="146213"/>
                </a:cubicBezTo>
                <a:cubicBezTo>
                  <a:pt x="292425" y="226909"/>
                  <a:pt x="226909" y="292425"/>
                  <a:pt x="146213" y="292425"/>
                </a:cubicBezTo>
                <a:cubicBezTo>
                  <a:pt x="65516" y="292425"/>
                  <a:pt x="0" y="226909"/>
                  <a:pt x="0" y="146213"/>
                </a:cubicBezTo>
                <a:cubicBezTo>
                  <a:pt x="0" y="65516"/>
                  <a:pt x="65516" y="0"/>
                  <a:pt x="146213" y="0"/>
                </a:cubicBezTo>
                <a:close/>
              </a:path>
            </a:pathLst>
          </a:custGeom>
          <a:solidFill>
            <a:srgbClr val="F1CB8F"/>
          </a:solidFill>
          <a:ln/>
        </p:spPr>
      </p:sp>
      <p:sp>
        <p:nvSpPr>
          <p:cNvPr id="14" name="Text 10"/>
          <p:cNvSpPr/>
          <p:nvPr/>
        </p:nvSpPr>
        <p:spPr>
          <a:xfrm>
            <a:off x="4818431" y="3032940"/>
            <a:ext cx="292425" cy="2924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404961" y="1474006"/>
            <a:ext cx="347886" cy="38471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404961" y="1474006"/>
            <a:ext cx="347886" cy="3847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-12893"/>
            <a:ext cx="9157807" cy="516919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-12893"/>
            <a:ext cx="9157807" cy="51691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44057" y="-12893"/>
            <a:ext cx="3213293" cy="507684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944057" y="-12893"/>
            <a:ext cx="3213293" cy="5076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sp>
        <p:nvSpPr>
          <p:cNvPr id="6" name="Shape 2"/>
          <p:cNvSpPr/>
          <p:nvPr/>
        </p:nvSpPr>
        <p:spPr>
          <a:xfrm>
            <a:off x="146304" y="128016"/>
            <a:ext cx="8833104" cy="4873752"/>
          </a:xfrm>
          <a:custGeom>
            <a:avLst/>
            <a:gdLst/>
            <a:ahLst/>
            <a:cxnLst/>
            <a:rect l="l" t="t" r="r" b="b"/>
            <a:pathLst>
              <a:path w="8833104" h="4873752">
                <a:moveTo>
                  <a:pt x="0" y="0"/>
                </a:moveTo>
                <a:lnTo>
                  <a:pt x="8833104" y="0"/>
                </a:lnTo>
                <a:lnTo>
                  <a:pt x="8833104" y="4873752"/>
                </a:lnTo>
                <a:lnTo>
                  <a:pt x="0" y="4873752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" name="Text 3"/>
          <p:cNvSpPr/>
          <p:nvPr/>
        </p:nvSpPr>
        <p:spPr>
          <a:xfrm>
            <a:off x="146304" y="128016"/>
            <a:ext cx="8833104" cy="4873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pic>
        <p:nvPicPr>
          <p:cNvPr id="8" name="Image 2" descr="https://static.yipigai.cn/public/muban/3/nr-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6304" y="2779776"/>
            <a:ext cx="8833104" cy="2226564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308153" y="410017"/>
            <a:ext cx="158557" cy="158557"/>
          </a:xfrm>
          <a:custGeom>
            <a:avLst/>
            <a:gdLst/>
            <a:ahLst/>
            <a:cxnLst/>
            <a:rect l="l" t="t" r="r" b="b"/>
            <a:pathLst>
              <a:path w="158557" h="158557">
                <a:moveTo>
                  <a:pt x="79278" y="0"/>
                </a:moveTo>
                <a:cubicBezTo>
                  <a:pt x="123033" y="0"/>
                  <a:pt x="158557" y="35523"/>
                  <a:pt x="158557" y="79278"/>
                </a:cubicBezTo>
                <a:cubicBezTo>
                  <a:pt x="158557" y="123033"/>
                  <a:pt x="123033" y="158557"/>
                  <a:pt x="79278" y="158557"/>
                </a:cubicBezTo>
                <a:cubicBezTo>
                  <a:pt x="35523" y="158557"/>
                  <a:pt x="0" y="123033"/>
                  <a:pt x="0" y="79278"/>
                </a:cubicBezTo>
                <a:cubicBezTo>
                  <a:pt x="0" y="35523"/>
                  <a:pt x="35523" y="0"/>
                  <a:pt x="79278" y="0"/>
                </a:cubicBezTo>
                <a:close/>
              </a:path>
            </a:pathLst>
          </a:custGeom>
          <a:solidFill>
            <a:srgbClr val="427092"/>
          </a:solidFill>
          <a:ln/>
        </p:spPr>
      </p:sp>
      <p:sp>
        <p:nvSpPr>
          <p:cNvPr id="10" name="Text 5"/>
          <p:cNvSpPr/>
          <p:nvPr/>
        </p:nvSpPr>
        <p:spPr>
          <a:xfrm>
            <a:off x="308153" y="410017"/>
            <a:ext cx="158557" cy="1585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sp>
        <p:nvSpPr>
          <p:cNvPr id="11" name="Text 6"/>
          <p:cNvSpPr/>
          <p:nvPr/>
        </p:nvSpPr>
        <p:spPr>
          <a:xfrm>
            <a:off x="538124" y="237744"/>
            <a:ext cx="3413364" cy="4572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75"/>
              </a:spcBef>
              <a:buNone/>
            </a:pPr>
            <a:r>
              <a:rPr lang="en-US" sz="1800" b="1" dirty="0">
                <a:solidFill>
                  <a:srgbClr val="427092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6.1 概念混淆</a:t>
            </a:r>
            <a:endParaRPr lang="en-US" sz="2250" dirty="0"/>
          </a:p>
        </p:txBody>
      </p:sp>
      <p:sp>
        <p:nvSpPr>
          <p:cNvPr id="12" name="Text 7"/>
          <p:cNvSpPr/>
          <p:nvPr/>
        </p:nvSpPr>
        <p:spPr>
          <a:xfrm>
            <a:off x="640080" y="969264"/>
            <a:ext cx="7863840" cy="361188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225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1. 混淆转化率与产率：转化率针对反应物，产率针对产物，只有无副反应的完全反应中二者数值相等，存在副反应时产率一定小于对应反应物的转化率。</a:t>
            </a:r>
            <a:endParaRPr lang="en-US" sz="2250" dirty="0"/>
          </a:p>
          <a:p>
            <a:pPr indent="0" marL="0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225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错误示例：某反应中反应物A的转化率为80%，则产物的产率一定为80%。</a:t>
            </a:r>
            <a:endParaRPr lang="en-US" sz="2250" dirty="0"/>
          </a:p>
          <a:p>
            <a:pPr indent="0" marL="0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225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辨析：若反应存在副反应，转化的A只有部分生成目标产物，此时产率低于80%，该表述错误。</a:t>
            </a:r>
            <a:endParaRPr lang="en-US" sz="2250" dirty="0"/>
          </a:p>
          <a:p>
            <a:pPr indent="0" marL="0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225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2. 混淆产率与原子利用率：产率衡量目标产物的实际获</a:t>
            </a:r>
            <a:endParaRPr lang="en-US" sz="22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-12893"/>
            <a:ext cx="9157807" cy="516919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-12893"/>
            <a:ext cx="9157807" cy="51691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44057" y="-12893"/>
            <a:ext cx="3213293" cy="507684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944057" y="-12893"/>
            <a:ext cx="3213293" cy="5076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sp>
        <p:nvSpPr>
          <p:cNvPr id="6" name="Shape 2"/>
          <p:cNvSpPr/>
          <p:nvPr/>
        </p:nvSpPr>
        <p:spPr>
          <a:xfrm>
            <a:off x="146304" y="128016"/>
            <a:ext cx="8833104" cy="4873752"/>
          </a:xfrm>
          <a:custGeom>
            <a:avLst/>
            <a:gdLst/>
            <a:ahLst/>
            <a:cxnLst/>
            <a:rect l="l" t="t" r="r" b="b"/>
            <a:pathLst>
              <a:path w="8833104" h="4873752">
                <a:moveTo>
                  <a:pt x="0" y="0"/>
                </a:moveTo>
                <a:lnTo>
                  <a:pt x="8833104" y="0"/>
                </a:lnTo>
                <a:lnTo>
                  <a:pt x="8833104" y="4873752"/>
                </a:lnTo>
                <a:lnTo>
                  <a:pt x="0" y="4873752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" name="Text 3"/>
          <p:cNvSpPr/>
          <p:nvPr/>
        </p:nvSpPr>
        <p:spPr>
          <a:xfrm>
            <a:off x="146304" y="128016"/>
            <a:ext cx="8833104" cy="4873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pic>
        <p:nvPicPr>
          <p:cNvPr id="8" name="Image 2" descr="https://static.yipigai.cn/public/muban/3/nr-2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6304" y="3127248"/>
            <a:ext cx="8833104" cy="2782519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308153" y="410017"/>
            <a:ext cx="158557" cy="158557"/>
          </a:xfrm>
          <a:custGeom>
            <a:avLst/>
            <a:gdLst/>
            <a:ahLst/>
            <a:cxnLst/>
            <a:rect l="l" t="t" r="r" b="b"/>
            <a:pathLst>
              <a:path w="158557" h="158557">
                <a:moveTo>
                  <a:pt x="79278" y="0"/>
                </a:moveTo>
                <a:cubicBezTo>
                  <a:pt x="123033" y="0"/>
                  <a:pt x="158557" y="35523"/>
                  <a:pt x="158557" y="79278"/>
                </a:cubicBezTo>
                <a:cubicBezTo>
                  <a:pt x="158557" y="123033"/>
                  <a:pt x="123033" y="158557"/>
                  <a:pt x="79278" y="158557"/>
                </a:cubicBezTo>
                <a:cubicBezTo>
                  <a:pt x="35523" y="158557"/>
                  <a:pt x="0" y="123033"/>
                  <a:pt x="0" y="79278"/>
                </a:cubicBezTo>
                <a:cubicBezTo>
                  <a:pt x="0" y="35523"/>
                  <a:pt x="35523" y="0"/>
                  <a:pt x="79278" y="0"/>
                </a:cubicBezTo>
                <a:close/>
              </a:path>
            </a:pathLst>
          </a:custGeom>
          <a:solidFill>
            <a:srgbClr val="427092"/>
          </a:solidFill>
          <a:ln/>
        </p:spPr>
      </p:sp>
      <p:sp>
        <p:nvSpPr>
          <p:cNvPr id="10" name="Text 5"/>
          <p:cNvSpPr/>
          <p:nvPr/>
        </p:nvSpPr>
        <p:spPr>
          <a:xfrm>
            <a:off x="308153" y="410017"/>
            <a:ext cx="158557" cy="1585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sp>
        <p:nvSpPr>
          <p:cNvPr id="11" name="Text 6"/>
          <p:cNvSpPr/>
          <p:nvPr/>
        </p:nvSpPr>
        <p:spPr>
          <a:xfrm>
            <a:off x="538124" y="237744"/>
            <a:ext cx="3413364" cy="4572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75"/>
              </a:spcBef>
              <a:buNone/>
            </a:pPr>
            <a:r>
              <a:rPr lang="en-US" sz="1800" b="1" dirty="0">
                <a:solidFill>
                  <a:srgbClr val="427092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6.1 概念混淆</a:t>
            </a:r>
            <a:endParaRPr lang="en-US" sz="2250" dirty="0"/>
          </a:p>
        </p:txBody>
      </p:sp>
      <p:sp>
        <p:nvSpPr>
          <p:cNvPr id="12" name="Text 7"/>
          <p:cNvSpPr/>
          <p:nvPr/>
        </p:nvSpPr>
        <p:spPr>
          <a:xfrm>
            <a:off x="640080" y="969264"/>
            <a:ext cx="7863840" cy="233172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225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率，原子利用率衡量反应的原子经济性，二者没有必然联系。</a:t>
            </a:r>
            <a:endParaRPr lang="en-US" sz="2250" dirty="0"/>
          </a:p>
          <a:p>
            <a:pPr indent="0" marL="0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225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错误示例：产率高的反应原子利用率一定高。</a:t>
            </a:r>
            <a:endParaRPr lang="en-US" sz="2250" dirty="0"/>
          </a:p>
          <a:p>
            <a:pPr indent="0" marL="0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225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辨析：若反应生成大量副产物，但分离过程中目标产物损失极少，此时产率很高但原子利用率很低，该表述错误。</a:t>
            </a:r>
            <a:endParaRPr lang="en-US" sz="22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-12893"/>
            <a:ext cx="9157807" cy="516919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-12893"/>
            <a:ext cx="9157807" cy="51691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44057" y="-12893"/>
            <a:ext cx="3213293" cy="507684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944057" y="-12893"/>
            <a:ext cx="3213293" cy="5076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sp>
        <p:nvSpPr>
          <p:cNvPr id="6" name="Shape 2"/>
          <p:cNvSpPr/>
          <p:nvPr/>
        </p:nvSpPr>
        <p:spPr>
          <a:xfrm>
            <a:off x="146304" y="128016"/>
            <a:ext cx="8833104" cy="4873752"/>
          </a:xfrm>
          <a:custGeom>
            <a:avLst/>
            <a:gdLst/>
            <a:ahLst/>
            <a:cxnLst/>
            <a:rect l="l" t="t" r="r" b="b"/>
            <a:pathLst>
              <a:path w="8833104" h="4873752">
                <a:moveTo>
                  <a:pt x="0" y="0"/>
                </a:moveTo>
                <a:lnTo>
                  <a:pt x="8833104" y="0"/>
                </a:lnTo>
                <a:lnTo>
                  <a:pt x="8833104" y="4873752"/>
                </a:lnTo>
                <a:lnTo>
                  <a:pt x="0" y="4873752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" name="Text 3"/>
          <p:cNvSpPr/>
          <p:nvPr/>
        </p:nvSpPr>
        <p:spPr>
          <a:xfrm>
            <a:off x="146304" y="128016"/>
            <a:ext cx="8833104" cy="4873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pic>
        <p:nvPicPr>
          <p:cNvPr id="8" name="Image 2" descr="https://static.yipigai.cn/public/muban/3/nr-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6304" y="2779776"/>
            <a:ext cx="8833104" cy="2226564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308153" y="410017"/>
            <a:ext cx="158557" cy="158557"/>
          </a:xfrm>
          <a:custGeom>
            <a:avLst/>
            <a:gdLst/>
            <a:ahLst/>
            <a:cxnLst/>
            <a:rect l="l" t="t" r="r" b="b"/>
            <a:pathLst>
              <a:path w="158557" h="158557">
                <a:moveTo>
                  <a:pt x="79278" y="0"/>
                </a:moveTo>
                <a:cubicBezTo>
                  <a:pt x="123033" y="0"/>
                  <a:pt x="158557" y="35523"/>
                  <a:pt x="158557" y="79278"/>
                </a:cubicBezTo>
                <a:cubicBezTo>
                  <a:pt x="158557" y="123033"/>
                  <a:pt x="123033" y="158557"/>
                  <a:pt x="79278" y="158557"/>
                </a:cubicBezTo>
                <a:cubicBezTo>
                  <a:pt x="35523" y="158557"/>
                  <a:pt x="0" y="123033"/>
                  <a:pt x="0" y="79278"/>
                </a:cubicBezTo>
                <a:cubicBezTo>
                  <a:pt x="0" y="35523"/>
                  <a:pt x="35523" y="0"/>
                  <a:pt x="79278" y="0"/>
                </a:cubicBezTo>
                <a:close/>
              </a:path>
            </a:pathLst>
          </a:custGeom>
          <a:solidFill>
            <a:srgbClr val="427092"/>
          </a:solidFill>
          <a:ln/>
        </p:spPr>
      </p:sp>
      <p:sp>
        <p:nvSpPr>
          <p:cNvPr id="10" name="Text 5"/>
          <p:cNvSpPr/>
          <p:nvPr/>
        </p:nvSpPr>
        <p:spPr>
          <a:xfrm>
            <a:off x="308153" y="410017"/>
            <a:ext cx="158557" cy="1585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sp>
        <p:nvSpPr>
          <p:cNvPr id="11" name="Text 6"/>
          <p:cNvSpPr/>
          <p:nvPr/>
        </p:nvSpPr>
        <p:spPr>
          <a:xfrm>
            <a:off x="538124" y="237744"/>
            <a:ext cx="3413364" cy="4572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75"/>
              </a:spcBef>
              <a:buNone/>
            </a:pPr>
            <a:r>
              <a:rPr lang="en-US" sz="1800" b="1" dirty="0">
                <a:solidFill>
                  <a:srgbClr val="427092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6.2 计算误区</a:t>
            </a:r>
            <a:endParaRPr lang="en-US" sz="22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969264"/>
            <a:ext cx="7863840" cy="3197114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-12893"/>
            <a:ext cx="9157807" cy="516919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-12893"/>
            <a:ext cx="9157807" cy="51691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44057" y="-12893"/>
            <a:ext cx="3213293" cy="507684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944057" y="-12893"/>
            <a:ext cx="3213293" cy="5076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sp>
        <p:nvSpPr>
          <p:cNvPr id="6" name="Shape 2"/>
          <p:cNvSpPr/>
          <p:nvPr/>
        </p:nvSpPr>
        <p:spPr>
          <a:xfrm>
            <a:off x="146304" y="128016"/>
            <a:ext cx="8833104" cy="4873752"/>
          </a:xfrm>
          <a:custGeom>
            <a:avLst/>
            <a:gdLst/>
            <a:ahLst/>
            <a:cxnLst/>
            <a:rect l="l" t="t" r="r" b="b"/>
            <a:pathLst>
              <a:path w="8833104" h="4873752">
                <a:moveTo>
                  <a:pt x="0" y="0"/>
                </a:moveTo>
                <a:lnTo>
                  <a:pt x="8833104" y="0"/>
                </a:lnTo>
                <a:lnTo>
                  <a:pt x="8833104" y="4873752"/>
                </a:lnTo>
                <a:lnTo>
                  <a:pt x="0" y="4873752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" name="Text 3"/>
          <p:cNvSpPr/>
          <p:nvPr/>
        </p:nvSpPr>
        <p:spPr>
          <a:xfrm>
            <a:off x="146304" y="128016"/>
            <a:ext cx="8833104" cy="4873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pic>
        <p:nvPicPr>
          <p:cNvPr id="8" name="Image 2" descr="https://static.yipigai.cn/public/muban/3/nr-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6304" y="2779776"/>
            <a:ext cx="8833104" cy="2226564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308153" y="410017"/>
            <a:ext cx="158557" cy="158557"/>
          </a:xfrm>
          <a:custGeom>
            <a:avLst/>
            <a:gdLst/>
            <a:ahLst/>
            <a:cxnLst/>
            <a:rect l="l" t="t" r="r" b="b"/>
            <a:pathLst>
              <a:path w="158557" h="158557">
                <a:moveTo>
                  <a:pt x="79278" y="0"/>
                </a:moveTo>
                <a:cubicBezTo>
                  <a:pt x="123033" y="0"/>
                  <a:pt x="158557" y="35523"/>
                  <a:pt x="158557" y="79278"/>
                </a:cubicBezTo>
                <a:cubicBezTo>
                  <a:pt x="158557" y="123033"/>
                  <a:pt x="123033" y="158557"/>
                  <a:pt x="79278" y="158557"/>
                </a:cubicBezTo>
                <a:cubicBezTo>
                  <a:pt x="35523" y="158557"/>
                  <a:pt x="0" y="123033"/>
                  <a:pt x="0" y="79278"/>
                </a:cubicBezTo>
                <a:cubicBezTo>
                  <a:pt x="0" y="35523"/>
                  <a:pt x="35523" y="0"/>
                  <a:pt x="79278" y="0"/>
                </a:cubicBezTo>
                <a:close/>
              </a:path>
            </a:pathLst>
          </a:custGeom>
          <a:solidFill>
            <a:srgbClr val="427092"/>
          </a:solidFill>
          <a:ln/>
        </p:spPr>
      </p:sp>
      <p:sp>
        <p:nvSpPr>
          <p:cNvPr id="10" name="Text 5"/>
          <p:cNvSpPr/>
          <p:nvPr/>
        </p:nvSpPr>
        <p:spPr>
          <a:xfrm>
            <a:off x="308153" y="410017"/>
            <a:ext cx="158557" cy="1585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sp>
        <p:nvSpPr>
          <p:cNvPr id="11" name="Text 6"/>
          <p:cNvSpPr/>
          <p:nvPr/>
        </p:nvSpPr>
        <p:spPr>
          <a:xfrm>
            <a:off x="538124" y="237744"/>
            <a:ext cx="3413364" cy="4572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75"/>
              </a:spcBef>
              <a:buNone/>
            </a:pPr>
            <a:r>
              <a:rPr lang="en-US" sz="1800" b="1" dirty="0">
                <a:solidFill>
                  <a:srgbClr val="427092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6.2 计算误区</a:t>
            </a:r>
            <a:endParaRPr lang="en-US" sz="22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969264"/>
            <a:ext cx="7863840" cy="315468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-12893"/>
            <a:ext cx="9157807" cy="516919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-12893"/>
            <a:ext cx="9157807" cy="51691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44057" y="-12893"/>
            <a:ext cx="3213293" cy="507684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944057" y="-12893"/>
            <a:ext cx="3213293" cy="5076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sp>
        <p:nvSpPr>
          <p:cNvPr id="6" name="Shape 2"/>
          <p:cNvSpPr/>
          <p:nvPr/>
        </p:nvSpPr>
        <p:spPr>
          <a:xfrm>
            <a:off x="153619" y="132679"/>
            <a:ext cx="8836853" cy="4878233"/>
          </a:xfrm>
          <a:custGeom>
            <a:avLst/>
            <a:gdLst/>
            <a:ahLst/>
            <a:cxnLst/>
            <a:rect l="l" t="t" r="r" b="b"/>
            <a:pathLst>
              <a:path w="8836853" h="4878233">
                <a:moveTo>
                  <a:pt x="0" y="0"/>
                </a:moveTo>
                <a:lnTo>
                  <a:pt x="8836853" y="0"/>
                </a:lnTo>
                <a:lnTo>
                  <a:pt x="8836853" y="4878233"/>
                </a:lnTo>
                <a:lnTo>
                  <a:pt x="0" y="4878233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" name="Text 3"/>
          <p:cNvSpPr/>
          <p:nvPr/>
        </p:nvSpPr>
        <p:spPr>
          <a:xfrm>
            <a:off x="153619" y="132679"/>
            <a:ext cx="8836853" cy="487823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sp>
        <p:nvSpPr>
          <p:cNvPr id="8" name="Text 4"/>
          <p:cNvSpPr/>
          <p:nvPr/>
        </p:nvSpPr>
        <p:spPr>
          <a:xfrm>
            <a:off x="2544242" y="2084556"/>
            <a:ext cx="4361657" cy="63093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algn="ctr" indent="0" marL="0">
              <a:lnSpc>
                <a:spcPct val="80000"/>
              </a:lnSpc>
              <a:spcBef>
                <a:spcPts val="375"/>
              </a:spcBef>
              <a:buNone/>
            </a:pPr>
            <a:r>
              <a:rPr lang="en-US" sz="3675" dirty="0">
                <a:solidFill>
                  <a:srgbClr val="427092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7 拓展应用</a:t>
            </a:r>
            <a:endParaRPr lang="en-US" sz="2250" dirty="0"/>
          </a:p>
        </p:txBody>
      </p:sp>
      <p:sp>
        <p:nvSpPr>
          <p:cNvPr id="9" name="Shape 5"/>
          <p:cNvSpPr/>
          <p:nvPr/>
        </p:nvSpPr>
        <p:spPr>
          <a:xfrm>
            <a:off x="4046952" y="3032940"/>
            <a:ext cx="292425" cy="292425"/>
          </a:xfrm>
          <a:custGeom>
            <a:avLst/>
            <a:gdLst/>
            <a:ahLst/>
            <a:cxnLst/>
            <a:rect l="l" t="t" r="r" b="b"/>
            <a:pathLst>
              <a:path w="292425" h="292425">
                <a:moveTo>
                  <a:pt x="146213" y="0"/>
                </a:moveTo>
                <a:cubicBezTo>
                  <a:pt x="226909" y="0"/>
                  <a:pt x="292425" y="65516"/>
                  <a:pt x="292425" y="146213"/>
                </a:cubicBezTo>
                <a:cubicBezTo>
                  <a:pt x="292425" y="226909"/>
                  <a:pt x="226909" y="292425"/>
                  <a:pt x="146213" y="292425"/>
                </a:cubicBezTo>
                <a:cubicBezTo>
                  <a:pt x="65516" y="292425"/>
                  <a:pt x="0" y="226909"/>
                  <a:pt x="0" y="146213"/>
                </a:cubicBezTo>
                <a:cubicBezTo>
                  <a:pt x="0" y="65516"/>
                  <a:pt x="65516" y="0"/>
                  <a:pt x="146213" y="0"/>
                </a:cubicBezTo>
                <a:close/>
              </a:path>
            </a:pathLst>
          </a:custGeom>
          <a:solidFill>
            <a:srgbClr val="F1CB8F"/>
          </a:solidFill>
          <a:ln/>
        </p:spPr>
      </p:sp>
      <p:sp>
        <p:nvSpPr>
          <p:cNvPr id="10" name="Text 6"/>
          <p:cNvSpPr/>
          <p:nvPr/>
        </p:nvSpPr>
        <p:spPr>
          <a:xfrm>
            <a:off x="4046952" y="3032940"/>
            <a:ext cx="292425" cy="2924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sp>
        <p:nvSpPr>
          <p:cNvPr id="11" name="Shape 7"/>
          <p:cNvSpPr/>
          <p:nvPr/>
        </p:nvSpPr>
        <p:spPr>
          <a:xfrm>
            <a:off x="4432645" y="3032940"/>
            <a:ext cx="292425" cy="292425"/>
          </a:xfrm>
          <a:custGeom>
            <a:avLst/>
            <a:gdLst/>
            <a:ahLst/>
            <a:cxnLst/>
            <a:rect l="l" t="t" r="r" b="b"/>
            <a:pathLst>
              <a:path w="292425" h="292425">
                <a:moveTo>
                  <a:pt x="146213" y="0"/>
                </a:moveTo>
                <a:cubicBezTo>
                  <a:pt x="226909" y="0"/>
                  <a:pt x="292425" y="65516"/>
                  <a:pt x="292425" y="146213"/>
                </a:cubicBezTo>
                <a:cubicBezTo>
                  <a:pt x="292425" y="226909"/>
                  <a:pt x="226909" y="292425"/>
                  <a:pt x="146213" y="292425"/>
                </a:cubicBezTo>
                <a:cubicBezTo>
                  <a:pt x="65516" y="292425"/>
                  <a:pt x="0" y="226909"/>
                  <a:pt x="0" y="146213"/>
                </a:cubicBezTo>
                <a:cubicBezTo>
                  <a:pt x="0" y="65516"/>
                  <a:pt x="65516" y="0"/>
                  <a:pt x="146213" y="0"/>
                </a:cubicBezTo>
                <a:close/>
              </a:path>
            </a:pathLst>
          </a:custGeom>
          <a:solidFill>
            <a:srgbClr val="427092"/>
          </a:solidFill>
          <a:ln/>
        </p:spPr>
      </p:sp>
      <p:sp>
        <p:nvSpPr>
          <p:cNvPr id="12" name="Text 8"/>
          <p:cNvSpPr/>
          <p:nvPr/>
        </p:nvSpPr>
        <p:spPr>
          <a:xfrm>
            <a:off x="4432645" y="3032940"/>
            <a:ext cx="292425" cy="2924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sp>
        <p:nvSpPr>
          <p:cNvPr id="13" name="Shape 9"/>
          <p:cNvSpPr/>
          <p:nvPr/>
        </p:nvSpPr>
        <p:spPr>
          <a:xfrm>
            <a:off x="4818431" y="3032940"/>
            <a:ext cx="292425" cy="292425"/>
          </a:xfrm>
          <a:custGeom>
            <a:avLst/>
            <a:gdLst/>
            <a:ahLst/>
            <a:cxnLst/>
            <a:rect l="l" t="t" r="r" b="b"/>
            <a:pathLst>
              <a:path w="292425" h="292425">
                <a:moveTo>
                  <a:pt x="146213" y="0"/>
                </a:moveTo>
                <a:cubicBezTo>
                  <a:pt x="226909" y="0"/>
                  <a:pt x="292425" y="65516"/>
                  <a:pt x="292425" y="146213"/>
                </a:cubicBezTo>
                <a:cubicBezTo>
                  <a:pt x="292425" y="226909"/>
                  <a:pt x="226909" y="292425"/>
                  <a:pt x="146213" y="292425"/>
                </a:cubicBezTo>
                <a:cubicBezTo>
                  <a:pt x="65516" y="292425"/>
                  <a:pt x="0" y="226909"/>
                  <a:pt x="0" y="146213"/>
                </a:cubicBezTo>
                <a:cubicBezTo>
                  <a:pt x="0" y="65516"/>
                  <a:pt x="65516" y="0"/>
                  <a:pt x="146213" y="0"/>
                </a:cubicBezTo>
                <a:close/>
              </a:path>
            </a:pathLst>
          </a:custGeom>
          <a:solidFill>
            <a:srgbClr val="F1CB8F"/>
          </a:solidFill>
          <a:ln/>
        </p:spPr>
      </p:sp>
      <p:sp>
        <p:nvSpPr>
          <p:cNvPr id="14" name="Text 10"/>
          <p:cNvSpPr/>
          <p:nvPr/>
        </p:nvSpPr>
        <p:spPr>
          <a:xfrm>
            <a:off x="4818431" y="3032940"/>
            <a:ext cx="292425" cy="2924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404961" y="1474006"/>
            <a:ext cx="347886" cy="38471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404961" y="1474006"/>
            <a:ext cx="347886" cy="3847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-12893"/>
            <a:ext cx="9157807" cy="516919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-12893"/>
            <a:ext cx="9157807" cy="51691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44057" y="-12893"/>
            <a:ext cx="3213293" cy="507684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944057" y="-12893"/>
            <a:ext cx="3213293" cy="5076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sp>
        <p:nvSpPr>
          <p:cNvPr id="6" name="Shape 2"/>
          <p:cNvSpPr/>
          <p:nvPr/>
        </p:nvSpPr>
        <p:spPr>
          <a:xfrm>
            <a:off x="146304" y="128016"/>
            <a:ext cx="8833104" cy="4873752"/>
          </a:xfrm>
          <a:custGeom>
            <a:avLst/>
            <a:gdLst/>
            <a:ahLst/>
            <a:cxnLst/>
            <a:rect l="l" t="t" r="r" b="b"/>
            <a:pathLst>
              <a:path w="8833104" h="4873752">
                <a:moveTo>
                  <a:pt x="0" y="0"/>
                </a:moveTo>
                <a:lnTo>
                  <a:pt x="8833104" y="0"/>
                </a:lnTo>
                <a:lnTo>
                  <a:pt x="8833104" y="4873752"/>
                </a:lnTo>
                <a:lnTo>
                  <a:pt x="0" y="4873752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" name="Text 3"/>
          <p:cNvSpPr/>
          <p:nvPr/>
        </p:nvSpPr>
        <p:spPr>
          <a:xfrm>
            <a:off x="146304" y="128016"/>
            <a:ext cx="8833104" cy="4873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pic>
        <p:nvPicPr>
          <p:cNvPr id="8" name="Image 2" descr="https://static.yipigai.cn/public/muban/3/nr-2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6304" y="3127248"/>
            <a:ext cx="8833104" cy="2782519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308153" y="410017"/>
            <a:ext cx="158557" cy="158557"/>
          </a:xfrm>
          <a:custGeom>
            <a:avLst/>
            <a:gdLst/>
            <a:ahLst/>
            <a:cxnLst/>
            <a:rect l="l" t="t" r="r" b="b"/>
            <a:pathLst>
              <a:path w="158557" h="158557">
                <a:moveTo>
                  <a:pt x="79278" y="0"/>
                </a:moveTo>
                <a:cubicBezTo>
                  <a:pt x="123033" y="0"/>
                  <a:pt x="158557" y="35523"/>
                  <a:pt x="158557" y="79278"/>
                </a:cubicBezTo>
                <a:cubicBezTo>
                  <a:pt x="158557" y="123033"/>
                  <a:pt x="123033" y="158557"/>
                  <a:pt x="79278" y="158557"/>
                </a:cubicBezTo>
                <a:cubicBezTo>
                  <a:pt x="35523" y="158557"/>
                  <a:pt x="0" y="123033"/>
                  <a:pt x="0" y="79278"/>
                </a:cubicBezTo>
                <a:cubicBezTo>
                  <a:pt x="0" y="35523"/>
                  <a:pt x="35523" y="0"/>
                  <a:pt x="79278" y="0"/>
                </a:cubicBezTo>
                <a:close/>
              </a:path>
            </a:pathLst>
          </a:custGeom>
          <a:solidFill>
            <a:srgbClr val="427092"/>
          </a:solidFill>
          <a:ln/>
        </p:spPr>
      </p:sp>
      <p:sp>
        <p:nvSpPr>
          <p:cNvPr id="10" name="Text 5"/>
          <p:cNvSpPr/>
          <p:nvPr/>
        </p:nvSpPr>
        <p:spPr>
          <a:xfrm>
            <a:off x="308153" y="410017"/>
            <a:ext cx="158557" cy="1585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sp>
        <p:nvSpPr>
          <p:cNvPr id="11" name="Text 6"/>
          <p:cNvSpPr/>
          <p:nvPr/>
        </p:nvSpPr>
        <p:spPr>
          <a:xfrm>
            <a:off x="538124" y="237744"/>
            <a:ext cx="3413364" cy="4572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75"/>
              </a:spcBef>
              <a:buNone/>
            </a:pPr>
            <a:r>
              <a:rPr lang="en-US" sz="1800" b="1" dirty="0">
                <a:solidFill>
                  <a:srgbClr val="427092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7.1 化工生产应用</a:t>
            </a:r>
            <a:endParaRPr lang="en-US" sz="2250" dirty="0"/>
          </a:p>
        </p:txBody>
      </p:sp>
      <p:sp>
        <p:nvSpPr>
          <p:cNvPr id="12" name="Text 7"/>
          <p:cNvSpPr/>
          <p:nvPr/>
        </p:nvSpPr>
        <p:spPr>
          <a:xfrm>
            <a:off x="640080" y="969264"/>
            <a:ext cx="7863840" cy="361188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225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产率计算是化工生产流程设计的核心依据之一，主要应用场景包括：</a:t>
            </a:r>
            <a:endParaRPr lang="en-US" sz="2250" dirty="0"/>
          </a:p>
          <a:p>
            <a:pPr indent="0" marL="0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225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1. 原料投入量核算：根据目标产物的年产量，结合总产率计算所需原料的年投入量，为原料采购、仓储规划提供数据支撑；</a:t>
            </a:r>
            <a:endParaRPr lang="en-US" sz="2250" dirty="0"/>
          </a:p>
          <a:p>
            <a:pPr indent="0" marL="0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225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2. 反应条件优化：对比不同温度、压强、催化剂条件下的产率差异，筛选出经济效益最高的反应条件，平衡能耗、设备成本与产率之间的关系；</a:t>
            </a:r>
            <a:endParaRPr lang="en-US" sz="2250" dirty="0"/>
          </a:p>
          <a:p>
            <a:pPr indent="0" marL="0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225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3. 生产效益评估：结合原料成本、产物售价与产率数据</a:t>
            </a:r>
            <a:endParaRPr lang="en-US" sz="22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-12893"/>
            <a:ext cx="9157807" cy="516919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-12893"/>
            <a:ext cx="9157807" cy="51691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44057" y="-12893"/>
            <a:ext cx="3213293" cy="507684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944057" y="-12893"/>
            <a:ext cx="3213293" cy="5076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sp>
        <p:nvSpPr>
          <p:cNvPr id="6" name="Shape 2"/>
          <p:cNvSpPr/>
          <p:nvPr/>
        </p:nvSpPr>
        <p:spPr>
          <a:xfrm>
            <a:off x="146304" y="128016"/>
            <a:ext cx="8833104" cy="4873752"/>
          </a:xfrm>
          <a:custGeom>
            <a:avLst/>
            <a:gdLst/>
            <a:ahLst/>
            <a:cxnLst/>
            <a:rect l="l" t="t" r="r" b="b"/>
            <a:pathLst>
              <a:path w="8833104" h="4873752">
                <a:moveTo>
                  <a:pt x="0" y="0"/>
                </a:moveTo>
                <a:lnTo>
                  <a:pt x="8833104" y="0"/>
                </a:lnTo>
                <a:lnTo>
                  <a:pt x="8833104" y="4873752"/>
                </a:lnTo>
                <a:lnTo>
                  <a:pt x="0" y="4873752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" name="Text 3"/>
          <p:cNvSpPr/>
          <p:nvPr/>
        </p:nvSpPr>
        <p:spPr>
          <a:xfrm>
            <a:off x="146304" y="128016"/>
            <a:ext cx="8833104" cy="4873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pic>
        <p:nvPicPr>
          <p:cNvPr id="8" name="Image 2" descr="https://static.yipigai.cn/public/muban/3/nr-2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6304" y="3127248"/>
            <a:ext cx="8833104" cy="2782519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308153" y="410017"/>
            <a:ext cx="158557" cy="158557"/>
          </a:xfrm>
          <a:custGeom>
            <a:avLst/>
            <a:gdLst/>
            <a:ahLst/>
            <a:cxnLst/>
            <a:rect l="l" t="t" r="r" b="b"/>
            <a:pathLst>
              <a:path w="158557" h="158557">
                <a:moveTo>
                  <a:pt x="79278" y="0"/>
                </a:moveTo>
                <a:cubicBezTo>
                  <a:pt x="123033" y="0"/>
                  <a:pt x="158557" y="35523"/>
                  <a:pt x="158557" y="79278"/>
                </a:cubicBezTo>
                <a:cubicBezTo>
                  <a:pt x="158557" y="123033"/>
                  <a:pt x="123033" y="158557"/>
                  <a:pt x="79278" y="158557"/>
                </a:cubicBezTo>
                <a:cubicBezTo>
                  <a:pt x="35523" y="158557"/>
                  <a:pt x="0" y="123033"/>
                  <a:pt x="0" y="79278"/>
                </a:cubicBezTo>
                <a:cubicBezTo>
                  <a:pt x="0" y="35523"/>
                  <a:pt x="35523" y="0"/>
                  <a:pt x="79278" y="0"/>
                </a:cubicBezTo>
                <a:close/>
              </a:path>
            </a:pathLst>
          </a:custGeom>
          <a:solidFill>
            <a:srgbClr val="427092"/>
          </a:solidFill>
          <a:ln/>
        </p:spPr>
      </p:sp>
      <p:sp>
        <p:nvSpPr>
          <p:cNvPr id="10" name="Text 5"/>
          <p:cNvSpPr/>
          <p:nvPr/>
        </p:nvSpPr>
        <p:spPr>
          <a:xfrm>
            <a:off x="308153" y="410017"/>
            <a:ext cx="158557" cy="1585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sp>
        <p:nvSpPr>
          <p:cNvPr id="11" name="Text 6"/>
          <p:cNvSpPr/>
          <p:nvPr/>
        </p:nvSpPr>
        <p:spPr>
          <a:xfrm>
            <a:off x="538124" y="237744"/>
            <a:ext cx="3413364" cy="4572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75"/>
              </a:spcBef>
              <a:buNone/>
            </a:pPr>
            <a:r>
              <a:rPr lang="en-US" sz="1800" b="1" dirty="0">
                <a:solidFill>
                  <a:srgbClr val="427092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7.1 化工生产应用</a:t>
            </a:r>
            <a:endParaRPr lang="en-US" sz="2250" dirty="0"/>
          </a:p>
        </p:txBody>
      </p:sp>
      <p:sp>
        <p:nvSpPr>
          <p:cNvPr id="12" name="Text 7"/>
          <p:cNvSpPr/>
          <p:nvPr/>
        </p:nvSpPr>
        <p:spPr>
          <a:xfrm>
            <a:off x="640080" y="969264"/>
            <a:ext cx="7863840" cy="187452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225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算生产过程的利润空间，判断工艺路线的可行性；</a:t>
            </a:r>
            <a:endParaRPr lang="en-US" sz="2250" dirty="0"/>
          </a:p>
          <a:p>
            <a:pPr indent="0" marL="0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225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4. 三废处理规划：根据产率与原子利用率数据，估算生产过程中产生的废弃物总量，设计对应的三废处理方案，满足环保要求。</a:t>
            </a:r>
            <a:endParaRPr lang="en-US" sz="22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-12893"/>
            <a:ext cx="9157807" cy="516919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-12893"/>
            <a:ext cx="9157807" cy="51691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44057" y="-12893"/>
            <a:ext cx="3213293" cy="507684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944057" y="-12893"/>
            <a:ext cx="3213293" cy="5076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sp>
        <p:nvSpPr>
          <p:cNvPr id="6" name="Shape 2"/>
          <p:cNvSpPr/>
          <p:nvPr/>
        </p:nvSpPr>
        <p:spPr>
          <a:xfrm>
            <a:off x="146304" y="128016"/>
            <a:ext cx="8833104" cy="4873752"/>
          </a:xfrm>
          <a:custGeom>
            <a:avLst/>
            <a:gdLst/>
            <a:ahLst/>
            <a:cxnLst/>
            <a:rect l="l" t="t" r="r" b="b"/>
            <a:pathLst>
              <a:path w="8833104" h="4873752">
                <a:moveTo>
                  <a:pt x="0" y="0"/>
                </a:moveTo>
                <a:lnTo>
                  <a:pt x="8833104" y="0"/>
                </a:lnTo>
                <a:lnTo>
                  <a:pt x="8833104" y="4873752"/>
                </a:lnTo>
                <a:lnTo>
                  <a:pt x="0" y="4873752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" name="Text 3"/>
          <p:cNvSpPr/>
          <p:nvPr/>
        </p:nvSpPr>
        <p:spPr>
          <a:xfrm>
            <a:off x="146304" y="128016"/>
            <a:ext cx="8833104" cy="4873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pic>
        <p:nvPicPr>
          <p:cNvPr id="8" name="Image 2" descr="https://static.yipigai.cn/public/muban/3/nr-2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6304" y="3127248"/>
            <a:ext cx="8833104" cy="2782519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308153" y="410017"/>
            <a:ext cx="158557" cy="158557"/>
          </a:xfrm>
          <a:custGeom>
            <a:avLst/>
            <a:gdLst/>
            <a:ahLst/>
            <a:cxnLst/>
            <a:rect l="l" t="t" r="r" b="b"/>
            <a:pathLst>
              <a:path w="158557" h="158557">
                <a:moveTo>
                  <a:pt x="79278" y="0"/>
                </a:moveTo>
                <a:cubicBezTo>
                  <a:pt x="123033" y="0"/>
                  <a:pt x="158557" y="35523"/>
                  <a:pt x="158557" y="79278"/>
                </a:cubicBezTo>
                <a:cubicBezTo>
                  <a:pt x="158557" y="123033"/>
                  <a:pt x="123033" y="158557"/>
                  <a:pt x="79278" y="158557"/>
                </a:cubicBezTo>
                <a:cubicBezTo>
                  <a:pt x="35523" y="158557"/>
                  <a:pt x="0" y="123033"/>
                  <a:pt x="0" y="79278"/>
                </a:cubicBezTo>
                <a:cubicBezTo>
                  <a:pt x="0" y="35523"/>
                  <a:pt x="35523" y="0"/>
                  <a:pt x="79278" y="0"/>
                </a:cubicBezTo>
                <a:close/>
              </a:path>
            </a:pathLst>
          </a:custGeom>
          <a:solidFill>
            <a:srgbClr val="427092"/>
          </a:solidFill>
          <a:ln/>
        </p:spPr>
      </p:sp>
      <p:sp>
        <p:nvSpPr>
          <p:cNvPr id="10" name="Text 5"/>
          <p:cNvSpPr/>
          <p:nvPr/>
        </p:nvSpPr>
        <p:spPr>
          <a:xfrm>
            <a:off x="308153" y="410017"/>
            <a:ext cx="158557" cy="1585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sp>
        <p:nvSpPr>
          <p:cNvPr id="11" name="Text 6"/>
          <p:cNvSpPr/>
          <p:nvPr/>
        </p:nvSpPr>
        <p:spPr>
          <a:xfrm>
            <a:off x="538124" y="237744"/>
            <a:ext cx="3413364" cy="4572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75"/>
              </a:spcBef>
              <a:buNone/>
            </a:pPr>
            <a:r>
              <a:rPr lang="en-US" sz="1800" b="1" dirty="0">
                <a:solidFill>
                  <a:srgbClr val="427092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7.2 实验设计应用</a:t>
            </a:r>
            <a:endParaRPr lang="en-US" sz="2250" dirty="0"/>
          </a:p>
        </p:txBody>
      </p:sp>
      <p:sp>
        <p:nvSpPr>
          <p:cNvPr id="12" name="Text 7"/>
          <p:cNvSpPr/>
          <p:nvPr/>
        </p:nvSpPr>
        <p:spPr>
          <a:xfrm>
            <a:off x="640080" y="969264"/>
            <a:ext cx="7863840" cy="32004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225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在实验室合成实验中，产率计算的作用包括：</a:t>
            </a:r>
            <a:endParaRPr lang="en-US" sz="2250" dirty="0"/>
          </a:p>
          <a:p>
            <a:pPr indent="0" marL="0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225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1. 实验方案评价：对比不同合成路线的总产率，选择步骤少、产率高、试剂成本低的合成方案；</a:t>
            </a:r>
            <a:endParaRPr lang="en-US" sz="2250" dirty="0"/>
          </a:p>
          <a:p>
            <a:pPr indent="0" marL="0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225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2. 实验操作优化：分析各步反应的产率差异，找出产率较低的步骤，针对性优化反应条件或分离提纯方法，提升总产率；</a:t>
            </a:r>
            <a:endParaRPr lang="en-US" sz="2250" dirty="0"/>
          </a:p>
          <a:p>
            <a:pPr indent="0" marL="0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225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3. 产物纯度验证：对比理论产量与实际产量，结合纯度检测数据，判断实验过程中是否存在未除去的杂质，优化提纯流程。</a:t>
            </a:r>
            <a:endParaRPr lang="en-US" sz="22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-12893"/>
            <a:ext cx="9157807" cy="516919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-12893"/>
            <a:ext cx="9157807" cy="51691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44057" y="-12893"/>
            <a:ext cx="3213293" cy="507684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944057" y="-12893"/>
            <a:ext cx="3213293" cy="5076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sp>
        <p:nvSpPr>
          <p:cNvPr id="6" name="Shape 2"/>
          <p:cNvSpPr/>
          <p:nvPr/>
        </p:nvSpPr>
        <p:spPr>
          <a:xfrm>
            <a:off x="153619" y="132679"/>
            <a:ext cx="8836853" cy="4878233"/>
          </a:xfrm>
          <a:custGeom>
            <a:avLst/>
            <a:gdLst/>
            <a:ahLst/>
            <a:cxnLst/>
            <a:rect l="l" t="t" r="r" b="b"/>
            <a:pathLst>
              <a:path w="8836853" h="4878233">
                <a:moveTo>
                  <a:pt x="0" y="0"/>
                </a:moveTo>
                <a:lnTo>
                  <a:pt x="8836853" y="0"/>
                </a:lnTo>
                <a:lnTo>
                  <a:pt x="8836853" y="4878233"/>
                </a:lnTo>
                <a:lnTo>
                  <a:pt x="0" y="4878233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" name="Text 3"/>
          <p:cNvSpPr/>
          <p:nvPr/>
        </p:nvSpPr>
        <p:spPr>
          <a:xfrm>
            <a:off x="153619" y="132679"/>
            <a:ext cx="8836853" cy="487823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sp>
        <p:nvSpPr>
          <p:cNvPr id="8" name="Text 4"/>
          <p:cNvSpPr/>
          <p:nvPr/>
        </p:nvSpPr>
        <p:spPr>
          <a:xfrm>
            <a:off x="2544242" y="2084556"/>
            <a:ext cx="4361657" cy="63093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algn="ctr" indent="0" marL="0">
              <a:lnSpc>
                <a:spcPct val="80000"/>
              </a:lnSpc>
              <a:spcBef>
                <a:spcPts val="375"/>
              </a:spcBef>
              <a:buNone/>
            </a:pPr>
            <a:r>
              <a:rPr lang="en-US" sz="3675" dirty="0">
                <a:solidFill>
                  <a:srgbClr val="427092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8 巩固练习</a:t>
            </a:r>
            <a:endParaRPr lang="en-US" sz="2250" dirty="0"/>
          </a:p>
        </p:txBody>
      </p:sp>
      <p:sp>
        <p:nvSpPr>
          <p:cNvPr id="9" name="Shape 5"/>
          <p:cNvSpPr/>
          <p:nvPr/>
        </p:nvSpPr>
        <p:spPr>
          <a:xfrm>
            <a:off x="4046952" y="3032940"/>
            <a:ext cx="292425" cy="292425"/>
          </a:xfrm>
          <a:custGeom>
            <a:avLst/>
            <a:gdLst/>
            <a:ahLst/>
            <a:cxnLst/>
            <a:rect l="l" t="t" r="r" b="b"/>
            <a:pathLst>
              <a:path w="292425" h="292425">
                <a:moveTo>
                  <a:pt x="146213" y="0"/>
                </a:moveTo>
                <a:cubicBezTo>
                  <a:pt x="226909" y="0"/>
                  <a:pt x="292425" y="65516"/>
                  <a:pt x="292425" y="146213"/>
                </a:cubicBezTo>
                <a:cubicBezTo>
                  <a:pt x="292425" y="226909"/>
                  <a:pt x="226909" y="292425"/>
                  <a:pt x="146213" y="292425"/>
                </a:cubicBezTo>
                <a:cubicBezTo>
                  <a:pt x="65516" y="292425"/>
                  <a:pt x="0" y="226909"/>
                  <a:pt x="0" y="146213"/>
                </a:cubicBezTo>
                <a:cubicBezTo>
                  <a:pt x="0" y="65516"/>
                  <a:pt x="65516" y="0"/>
                  <a:pt x="146213" y="0"/>
                </a:cubicBezTo>
                <a:close/>
              </a:path>
            </a:pathLst>
          </a:custGeom>
          <a:solidFill>
            <a:srgbClr val="F1CB8F"/>
          </a:solidFill>
          <a:ln/>
        </p:spPr>
      </p:sp>
      <p:sp>
        <p:nvSpPr>
          <p:cNvPr id="10" name="Text 6"/>
          <p:cNvSpPr/>
          <p:nvPr/>
        </p:nvSpPr>
        <p:spPr>
          <a:xfrm>
            <a:off x="4046952" y="3032940"/>
            <a:ext cx="292425" cy="2924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sp>
        <p:nvSpPr>
          <p:cNvPr id="11" name="Shape 7"/>
          <p:cNvSpPr/>
          <p:nvPr/>
        </p:nvSpPr>
        <p:spPr>
          <a:xfrm>
            <a:off x="4432645" y="3032940"/>
            <a:ext cx="292425" cy="292425"/>
          </a:xfrm>
          <a:custGeom>
            <a:avLst/>
            <a:gdLst/>
            <a:ahLst/>
            <a:cxnLst/>
            <a:rect l="l" t="t" r="r" b="b"/>
            <a:pathLst>
              <a:path w="292425" h="292425">
                <a:moveTo>
                  <a:pt x="146213" y="0"/>
                </a:moveTo>
                <a:cubicBezTo>
                  <a:pt x="226909" y="0"/>
                  <a:pt x="292425" y="65516"/>
                  <a:pt x="292425" y="146213"/>
                </a:cubicBezTo>
                <a:cubicBezTo>
                  <a:pt x="292425" y="226909"/>
                  <a:pt x="226909" y="292425"/>
                  <a:pt x="146213" y="292425"/>
                </a:cubicBezTo>
                <a:cubicBezTo>
                  <a:pt x="65516" y="292425"/>
                  <a:pt x="0" y="226909"/>
                  <a:pt x="0" y="146213"/>
                </a:cubicBezTo>
                <a:cubicBezTo>
                  <a:pt x="0" y="65516"/>
                  <a:pt x="65516" y="0"/>
                  <a:pt x="146213" y="0"/>
                </a:cubicBezTo>
                <a:close/>
              </a:path>
            </a:pathLst>
          </a:custGeom>
          <a:solidFill>
            <a:srgbClr val="427092"/>
          </a:solidFill>
          <a:ln/>
        </p:spPr>
      </p:sp>
      <p:sp>
        <p:nvSpPr>
          <p:cNvPr id="12" name="Text 8"/>
          <p:cNvSpPr/>
          <p:nvPr/>
        </p:nvSpPr>
        <p:spPr>
          <a:xfrm>
            <a:off x="4432645" y="3032940"/>
            <a:ext cx="292425" cy="2924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sp>
        <p:nvSpPr>
          <p:cNvPr id="13" name="Shape 9"/>
          <p:cNvSpPr/>
          <p:nvPr/>
        </p:nvSpPr>
        <p:spPr>
          <a:xfrm>
            <a:off x="4818431" y="3032940"/>
            <a:ext cx="292425" cy="292425"/>
          </a:xfrm>
          <a:custGeom>
            <a:avLst/>
            <a:gdLst/>
            <a:ahLst/>
            <a:cxnLst/>
            <a:rect l="l" t="t" r="r" b="b"/>
            <a:pathLst>
              <a:path w="292425" h="292425">
                <a:moveTo>
                  <a:pt x="146213" y="0"/>
                </a:moveTo>
                <a:cubicBezTo>
                  <a:pt x="226909" y="0"/>
                  <a:pt x="292425" y="65516"/>
                  <a:pt x="292425" y="146213"/>
                </a:cubicBezTo>
                <a:cubicBezTo>
                  <a:pt x="292425" y="226909"/>
                  <a:pt x="226909" y="292425"/>
                  <a:pt x="146213" y="292425"/>
                </a:cubicBezTo>
                <a:cubicBezTo>
                  <a:pt x="65516" y="292425"/>
                  <a:pt x="0" y="226909"/>
                  <a:pt x="0" y="146213"/>
                </a:cubicBezTo>
                <a:cubicBezTo>
                  <a:pt x="0" y="65516"/>
                  <a:pt x="65516" y="0"/>
                  <a:pt x="146213" y="0"/>
                </a:cubicBezTo>
                <a:close/>
              </a:path>
            </a:pathLst>
          </a:custGeom>
          <a:solidFill>
            <a:srgbClr val="F1CB8F"/>
          </a:solidFill>
          <a:ln/>
        </p:spPr>
      </p:sp>
      <p:sp>
        <p:nvSpPr>
          <p:cNvPr id="14" name="Text 10"/>
          <p:cNvSpPr/>
          <p:nvPr/>
        </p:nvSpPr>
        <p:spPr>
          <a:xfrm>
            <a:off x="4818431" y="3032940"/>
            <a:ext cx="292425" cy="2924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404961" y="1474006"/>
            <a:ext cx="347886" cy="38471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404961" y="1474006"/>
            <a:ext cx="347886" cy="3847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-12893"/>
            <a:ext cx="9157807" cy="516919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-12893"/>
            <a:ext cx="9157807" cy="51691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44057" y="-12893"/>
            <a:ext cx="3213293" cy="507684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944057" y="-12893"/>
            <a:ext cx="3213293" cy="5076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sp>
        <p:nvSpPr>
          <p:cNvPr id="6" name="Shape 2"/>
          <p:cNvSpPr/>
          <p:nvPr/>
        </p:nvSpPr>
        <p:spPr>
          <a:xfrm>
            <a:off x="146304" y="128016"/>
            <a:ext cx="8833104" cy="4873752"/>
          </a:xfrm>
          <a:custGeom>
            <a:avLst/>
            <a:gdLst/>
            <a:ahLst/>
            <a:cxnLst/>
            <a:rect l="l" t="t" r="r" b="b"/>
            <a:pathLst>
              <a:path w="8833104" h="4873752">
                <a:moveTo>
                  <a:pt x="0" y="0"/>
                </a:moveTo>
                <a:lnTo>
                  <a:pt x="8833104" y="0"/>
                </a:lnTo>
                <a:lnTo>
                  <a:pt x="8833104" y="4873752"/>
                </a:lnTo>
                <a:lnTo>
                  <a:pt x="0" y="4873752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" name="Text 3"/>
          <p:cNvSpPr/>
          <p:nvPr/>
        </p:nvSpPr>
        <p:spPr>
          <a:xfrm>
            <a:off x="146304" y="128016"/>
            <a:ext cx="8833104" cy="4873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pic>
        <p:nvPicPr>
          <p:cNvPr id="8" name="Image 2" descr="https://static.yipigai.cn/public/muban/3/nr-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6304" y="2779776"/>
            <a:ext cx="8833104" cy="2226564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308153" y="410017"/>
            <a:ext cx="158557" cy="158557"/>
          </a:xfrm>
          <a:custGeom>
            <a:avLst/>
            <a:gdLst/>
            <a:ahLst/>
            <a:cxnLst/>
            <a:rect l="l" t="t" r="r" b="b"/>
            <a:pathLst>
              <a:path w="158557" h="158557">
                <a:moveTo>
                  <a:pt x="79278" y="0"/>
                </a:moveTo>
                <a:cubicBezTo>
                  <a:pt x="123033" y="0"/>
                  <a:pt x="158557" y="35523"/>
                  <a:pt x="158557" y="79278"/>
                </a:cubicBezTo>
                <a:cubicBezTo>
                  <a:pt x="158557" y="123033"/>
                  <a:pt x="123033" y="158557"/>
                  <a:pt x="79278" y="158557"/>
                </a:cubicBezTo>
                <a:cubicBezTo>
                  <a:pt x="35523" y="158557"/>
                  <a:pt x="0" y="123033"/>
                  <a:pt x="0" y="79278"/>
                </a:cubicBezTo>
                <a:cubicBezTo>
                  <a:pt x="0" y="35523"/>
                  <a:pt x="35523" y="0"/>
                  <a:pt x="79278" y="0"/>
                </a:cubicBezTo>
                <a:close/>
              </a:path>
            </a:pathLst>
          </a:custGeom>
          <a:solidFill>
            <a:srgbClr val="427092"/>
          </a:solidFill>
          <a:ln/>
        </p:spPr>
      </p:sp>
      <p:sp>
        <p:nvSpPr>
          <p:cNvPr id="10" name="Text 5"/>
          <p:cNvSpPr/>
          <p:nvPr/>
        </p:nvSpPr>
        <p:spPr>
          <a:xfrm>
            <a:off x="308153" y="410017"/>
            <a:ext cx="158557" cy="1585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sp>
        <p:nvSpPr>
          <p:cNvPr id="11" name="Text 6"/>
          <p:cNvSpPr/>
          <p:nvPr/>
        </p:nvSpPr>
        <p:spPr>
          <a:xfrm>
            <a:off x="538124" y="237744"/>
            <a:ext cx="3413364" cy="406765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75"/>
              </a:spcBef>
              <a:buNone/>
            </a:pPr>
            <a:r>
              <a:rPr lang="en-US" sz="1800" b="1" dirty="0">
                <a:solidFill>
                  <a:srgbClr val="427092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8.1 基础习题</a:t>
            </a:r>
            <a:endParaRPr lang="en-US" sz="22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969264"/>
            <a:ext cx="7863840" cy="352044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-12893"/>
            <a:ext cx="9157807" cy="516919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-12893"/>
            <a:ext cx="9157807" cy="51691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44057" y="-12893"/>
            <a:ext cx="3213293" cy="507684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944057" y="-12893"/>
            <a:ext cx="3213293" cy="5076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sp>
        <p:nvSpPr>
          <p:cNvPr id="6" name="Shape 2"/>
          <p:cNvSpPr/>
          <p:nvPr/>
        </p:nvSpPr>
        <p:spPr>
          <a:xfrm>
            <a:off x="146304" y="128016"/>
            <a:ext cx="8833104" cy="4873752"/>
          </a:xfrm>
          <a:custGeom>
            <a:avLst/>
            <a:gdLst/>
            <a:ahLst/>
            <a:cxnLst/>
            <a:rect l="l" t="t" r="r" b="b"/>
            <a:pathLst>
              <a:path w="8833104" h="4873752">
                <a:moveTo>
                  <a:pt x="0" y="0"/>
                </a:moveTo>
                <a:lnTo>
                  <a:pt x="8833104" y="0"/>
                </a:lnTo>
                <a:lnTo>
                  <a:pt x="8833104" y="4873752"/>
                </a:lnTo>
                <a:lnTo>
                  <a:pt x="0" y="4873752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" name="Text 3"/>
          <p:cNvSpPr/>
          <p:nvPr/>
        </p:nvSpPr>
        <p:spPr>
          <a:xfrm>
            <a:off x="146304" y="128016"/>
            <a:ext cx="8833104" cy="4873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pic>
        <p:nvPicPr>
          <p:cNvPr id="8" name="Image 2" descr="https://static.yipigai.cn/public/muban/3/nr-2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6304" y="3127248"/>
            <a:ext cx="8833104" cy="2782519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308153" y="410017"/>
            <a:ext cx="158557" cy="158557"/>
          </a:xfrm>
          <a:custGeom>
            <a:avLst/>
            <a:gdLst/>
            <a:ahLst/>
            <a:cxnLst/>
            <a:rect l="l" t="t" r="r" b="b"/>
            <a:pathLst>
              <a:path w="158557" h="158557">
                <a:moveTo>
                  <a:pt x="79278" y="0"/>
                </a:moveTo>
                <a:cubicBezTo>
                  <a:pt x="123033" y="0"/>
                  <a:pt x="158557" y="35523"/>
                  <a:pt x="158557" y="79278"/>
                </a:cubicBezTo>
                <a:cubicBezTo>
                  <a:pt x="158557" y="123033"/>
                  <a:pt x="123033" y="158557"/>
                  <a:pt x="79278" y="158557"/>
                </a:cubicBezTo>
                <a:cubicBezTo>
                  <a:pt x="35523" y="158557"/>
                  <a:pt x="0" y="123033"/>
                  <a:pt x="0" y="79278"/>
                </a:cubicBezTo>
                <a:cubicBezTo>
                  <a:pt x="0" y="35523"/>
                  <a:pt x="35523" y="0"/>
                  <a:pt x="79278" y="0"/>
                </a:cubicBezTo>
                <a:close/>
              </a:path>
            </a:pathLst>
          </a:custGeom>
          <a:solidFill>
            <a:srgbClr val="427092"/>
          </a:solidFill>
          <a:ln/>
        </p:spPr>
      </p:sp>
      <p:sp>
        <p:nvSpPr>
          <p:cNvPr id="10" name="Text 5"/>
          <p:cNvSpPr/>
          <p:nvPr/>
        </p:nvSpPr>
        <p:spPr>
          <a:xfrm>
            <a:off x="308153" y="410017"/>
            <a:ext cx="158557" cy="1585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sp>
        <p:nvSpPr>
          <p:cNvPr id="11" name="Text 6"/>
          <p:cNvSpPr/>
          <p:nvPr/>
        </p:nvSpPr>
        <p:spPr>
          <a:xfrm>
            <a:off x="538124" y="237744"/>
            <a:ext cx="3413364" cy="406765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75"/>
              </a:spcBef>
              <a:buNone/>
            </a:pPr>
            <a:r>
              <a:rPr lang="en-US" sz="1800" b="1" dirty="0">
                <a:solidFill>
                  <a:srgbClr val="427092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8.1 基础习题</a:t>
            </a:r>
            <a:endParaRPr lang="en-US" sz="22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969264"/>
            <a:ext cx="7863840" cy="352044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-12893"/>
            <a:ext cx="9157807" cy="516919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-12893"/>
            <a:ext cx="9157807" cy="51691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44057" y="-12893"/>
            <a:ext cx="3213293" cy="507684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944057" y="-12893"/>
            <a:ext cx="3213293" cy="5076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sp>
        <p:nvSpPr>
          <p:cNvPr id="6" name="Shape 2"/>
          <p:cNvSpPr/>
          <p:nvPr/>
        </p:nvSpPr>
        <p:spPr>
          <a:xfrm>
            <a:off x="146304" y="128016"/>
            <a:ext cx="8833104" cy="4873752"/>
          </a:xfrm>
          <a:custGeom>
            <a:avLst/>
            <a:gdLst/>
            <a:ahLst/>
            <a:cxnLst/>
            <a:rect l="l" t="t" r="r" b="b"/>
            <a:pathLst>
              <a:path w="8833104" h="4873752">
                <a:moveTo>
                  <a:pt x="0" y="0"/>
                </a:moveTo>
                <a:lnTo>
                  <a:pt x="8833104" y="0"/>
                </a:lnTo>
                <a:lnTo>
                  <a:pt x="8833104" y="4873752"/>
                </a:lnTo>
                <a:lnTo>
                  <a:pt x="0" y="4873752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" name="Text 3"/>
          <p:cNvSpPr/>
          <p:nvPr/>
        </p:nvSpPr>
        <p:spPr>
          <a:xfrm>
            <a:off x="146304" y="128016"/>
            <a:ext cx="8833104" cy="4873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pic>
        <p:nvPicPr>
          <p:cNvPr id="8" name="Image 2" descr="https://static.yipigai.cn/public/muban/3/nr-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6304" y="2779776"/>
            <a:ext cx="8833104" cy="2226564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308153" y="410017"/>
            <a:ext cx="158557" cy="158557"/>
          </a:xfrm>
          <a:custGeom>
            <a:avLst/>
            <a:gdLst/>
            <a:ahLst/>
            <a:cxnLst/>
            <a:rect l="l" t="t" r="r" b="b"/>
            <a:pathLst>
              <a:path w="158557" h="158557">
                <a:moveTo>
                  <a:pt x="79278" y="0"/>
                </a:moveTo>
                <a:cubicBezTo>
                  <a:pt x="123033" y="0"/>
                  <a:pt x="158557" y="35523"/>
                  <a:pt x="158557" y="79278"/>
                </a:cubicBezTo>
                <a:cubicBezTo>
                  <a:pt x="158557" y="123033"/>
                  <a:pt x="123033" y="158557"/>
                  <a:pt x="79278" y="158557"/>
                </a:cubicBezTo>
                <a:cubicBezTo>
                  <a:pt x="35523" y="158557"/>
                  <a:pt x="0" y="123033"/>
                  <a:pt x="0" y="79278"/>
                </a:cubicBezTo>
                <a:cubicBezTo>
                  <a:pt x="0" y="35523"/>
                  <a:pt x="35523" y="0"/>
                  <a:pt x="79278" y="0"/>
                </a:cubicBezTo>
                <a:close/>
              </a:path>
            </a:pathLst>
          </a:custGeom>
          <a:solidFill>
            <a:srgbClr val="427092"/>
          </a:solidFill>
          <a:ln/>
        </p:spPr>
      </p:sp>
      <p:sp>
        <p:nvSpPr>
          <p:cNvPr id="10" name="Text 5"/>
          <p:cNvSpPr/>
          <p:nvPr/>
        </p:nvSpPr>
        <p:spPr>
          <a:xfrm>
            <a:off x="308153" y="410017"/>
            <a:ext cx="158557" cy="1585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sp>
        <p:nvSpPr>
          <p:cNvPr id="11" name="Text 6"/>
          <p:cNvSpPr/>
          <p:nvPr/>
        </p:nvSpPr>
        <p:spPr>
          <a:xfrm>
            <a:off x="538124" y="237744"/>
            <a:ext cx="3413364" cy="4572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75"/>
              </a:spcBef>
              <a:buNone/>
            </a:pPr>
            <a:r>
              <a:rPr lang="en-US" sz="1800" b="1" dirty="0">
                <a:solidFill>
                  <a:srgbClr val="427092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8.2 提升习题</a:t>
            </a:r>
            <a:endParaRPr lang="en-US" sz="22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969264"/>
            <a:ext cx="7863840" cy="2863929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-12893"/>
            <a:ext cx="9157807" cy="516919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-12893"/>
            <a:ext cx="9157807" cy="51691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44057" y="-12893"/>
            <a:ext cx="3213293" cy="507684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944057" y="-12893"/>
            <a:ext cx="3213293" cy="5076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sp>
        <p:nvSpPr>
          <p:cNvPr id="6" name="Shape 2"/>
          <p:cNvSpPr/>
          <p:nvPr/>
        </p:nvSpPr>
        <p:spPr>
          <a:xfrm>
            <a:off x="146304" y="128016"/>
            <a:ext cx="8833104" cy="4873752"/>
          </a:xfrm>
          <a:custGeom>
            <a:avLst/>
            <a:gdLst/>
            <a:ahLst/>
            <a:cxnLst/>
            <a:rect l="l" t="t" r="r" b="b"/>
            <a:pathLst>
              <a:path w="8833104" h="4873752">
                <a:moveTo>
                  <a:pt x="0" y="0"/>
                </a:moveTo>
                <a:lnTo>
                  <a:pt x="8833104" y="0"/>
                </a:lnTo>
                <a:lnTo>
                  <a:pt x="8833104" y="4873752"/>
                </a:lnTo>
                <a:lnTo>
                  <a:pt x="0" y="4873752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" name="Text 3"/>
          <p:cNvSpPr/>
          <p:nvPr/>
        </p:nvSpPr>
        <p:spPr>
          <a:xfrm>
            <a:off x="146304" y="128016"/>
            <a:ext cx="8833104" cy="4873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pic>
        <p:nvPicPr>
          <p:cNvPr id="8" name="Image 2" descr="https://static.yipigai.cn/public/muban/3/nr-2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6304" y="3127248"/>
            <a:ext cx="8833104" cy="2782519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308153" y="410017"/>
            <a:ext cx="158557" cy="158557"/>
          </a:xfrm>
          <a:custGeom>
            <a:avLst/>
            <a:gdLst/>
            <a:ahLst/>
            <a:cxnLst/>
            <a:rect l="l" t="t" r="r" b="b"/>
            <a:pathLst>
              <a:path w="158557" h="158557">
                <a:moveTo>
                  <a:pt x="79278" y="0"/>
                </a:moveTo>
                <a:cubicBezTo>
                  <a:pt x="123033" y="0"/>
                  <a:pt x="158557" y="35523"/>
                  <a:pt x="158557" y="79278"/>
                </a:cubicBezTo>
                <a:cubicBezTo>
                  <a:pt x="158557" y="123033"/>
                  <a:pt x="123033" y="158557"/>
                  <a:pt x="79278" y="158557"/>
                </a:cubicBezTo>
                <a:cubicBezTo>
                  <a:pt x="35523" y="158557"/>
                  <a:pt x="0" y="123033"/>
                  <a:pt x="0" y="79278"/>
                </a:cubicBezTo>
                <a:cubicBezTo>
                  <a:pt x="0" y="35523"/>
                  <a:pt x="35523" y="0"/>
                  <a:pt x="79278" y="0"/>
                </a:cubicBezTo>
                <a:close/>
              </a:path>
            </a:pathLst>
          </a:custGeom>
          <a:solidFill>
            <a:srgbClr val="427092"/>
          </a:solidFill>
          <a:ln/>
        </p:spPr>
      </p:sp>
      <p:sp>
        <p:nvSpPr>
          <p:cNvPr id="10" name="Text 5"/>
          <p:cNvSpPr/>
          <p:nvPr/>
        </p:nvSpPr>
        <p:spPr>
          <a:xfrm>
            <a:off x="308153" y="410017"/>
            <a:ext cx="158557" cy="1585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sp>
        <p:nvSpPr>
          <p:cNvPr id="11" name="Text 6"/>
          <p:cNvSpPr/>
          <p:nvPr/>
        </p:nvSpPr>
        <p:spPr>
          <a:xfrm>
            <a:off x="538124" y="237744"/>
            <a:ext cx="3413364" cy="4572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75"/>
              </a:spcBef>
              <a:buNone/>
            </a:pPr>
            <a:r>
              <a:rPr lang="en-US" sz="1800" b="1" dirty="0">
                <a:solidFill>
                  <a:srgbClr val="427092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8.2 提升习题</a:t>
            </a:r>
            <a:endParaRPr lang="en-US" sz="22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969264"/>
            <a:ext cx="7863840" cy="3601164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-12893"/>
            <a:ext cx="9157807" cy="516919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-12893"/>
            <a:ext cx="9157807" cy="51691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44057" y="-12893"/>
            <a:ext cx="3213293" cy="507684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944057" y="-12893"/>
            <a:ext cx="3213293" cy="5076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sp>
        <p:nvSpPr>
          <p:cNvPr id="6" name="Shape 2"/>
          <p:cNvSpPr/>
          <p:nvPr/>
        </p:nvSpPr>
        <p:spPr>
          <a:xfrm>
            <a:off x="146304" y="128016"/>
            <a:ext cx="8833104" cy="4873752"/>
          </a:xfrm>
          <a:custGeom>
            <a:avLst/>
            <a:gdLst/>
            <a:ahLst/>
            <a:cxnLst/>
            <a:rect l="l" t="t" r="r" b="b"/>
            <a:pathLst>
              <a:path w="8833104" h="4873752">
                <a:moveTo>
                  <a:pt x="0" y="0"/>
                </a:moveTo>
                <a:lnTo>
                  <a:pt x="8833104" y="0"/>
                </a:lnTo>
                <a:lnTo>
                  <a:pt x="8833104" y="4873752"/>
                </a:lnTo>
                <a:lnTo>
                  <a:pt x="0" y="4873752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" name="Text 3"/>
          <p:cNvSpPr/>
          <p:nvPr/>
        </p:nvSpPr>
        <p:spPr>
          <a:xfrm>
            <a:off x="146304" y="128016"/>
            <a:ext cx="8833104" cy="4873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pic>
        <p:nvPicPr>
          <p:cNvPr id="8" name="Image 2" descr="https://static.yipigai.cn/public/muban/3/nr-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6304" y="2779776"/>
            <a:ext cx="8833104" cy="2226564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308153" y="410017"/>
            <a:ext cx="158557" cy="158557"/>
          </a:xfrm>
          <a:custGeom>
            <a:avLst/>
            <a:gdLst/>
            <a:ahLst/>
            <a:cxnLst/>
            <a:rect l="l" t="t" r="r" b="b"/>
            <a:pathLst>
              <a:path w="158557" h="158557">
                <a:moveTo>
                  <a:pt x="79278" y="0"/>
                </a:moveTo>
                <a:cubicBezTo>
                  <a:pt x="123033" y="0"/>
                  <a:pt x="158557" y="35523"/>
                  <a:pt x="158557" y="79278"/>
                </a:cubicBezTo>
                <a:cubicBezTo>
                  <a:pt x="158557" y="123033"/>
                  <a:pt x="123033" y="158557"/>
                  <a:pt x="79278" y="158557"/>
                </a:cubicBezTo>
                <a:cubicBezTo>
                  <a:pt x="35523" y="158557"/>
                  <a:pt x="0" y="123033"/>
                  <a:pt x="0" y="79278"/>
                </a:cubicBezTo>
                <a:cubicBezTo>
                  <a:pt x="0" y="35523"/>
                  <a:pt x="35523" y="0"/>
                  <a:pt x="79278" y="0"/>
                </a:cubicBezTo>
                <a:close/>
              </a:path>
            </a:pathLst>
          </a:custGeom>
          <a:solidFill>
            <a:srgbClr val="427092"/>
          </a:solidFill>
          <a:ln/>
        </p:spPr>
      </p:sp>
      <p:sp>
        <p:nvSpPr>
          <p:cNvPr id="10" name="Text 5"/>
          <p:cNvSpPr/>
          <p:nvPr/>
        </p:nvSpPr>
        <p:spPr>
          <a:xfrm>
            <a:off x="308153" y="410017"/>
            <a:ext cx="158557" cy="1585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sp>
        <p:nvSpPr>
          <p:cNvPr id="11" name="Text 6"/>
          <p:cNvSpPr/>
          <p:nvPr/>
        </p:nvSpPr>
        <p:spPr>
          <a:xfrm>
            <a:off x="538124" y="237744"/>
            <a:ext cx="3413364" cy="4572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75"/>
              </a:spcBef>
              <a:buNone/>
            </a:pPr>
            <a:r>
              <a:rPr lang="en-US" sz="1800" b="1" dirty="0">
                <a:solidFill>
                  <a:srgbClr val="427092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8.2 提升习题</a:t>
            </a:r>
            <a:endParaRPr lang="en-US" sz="22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969264"/>
            <a:ext cx="7863840" cy="2515743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-12893"/>
            <a:ext cx="9157807" cy="516919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-12893"/>
            <a:ext cx="9157807" cy="51691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44057" y="-12893"/>
            <a:ext cx="3213293" cy="507684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944057" y="-12893"/>
            <a:ext cx="3213293" cy="5076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sp>
        <p:nvSpPr>
          <p:cNvPr id="6" name="Shape 2"/>
          <p:cNvSpPr/>
          <p:nvPr/>
        </p:nvSpPr>
        <p:spPr>
          <a:xfrm>
            <a:off x="153619" y="132679"/>
            <a:ext cx="8836853" cy="4878233"/>
          </a:xfrm>
          <a:custGeom>
            <a:avLst/>
            <a:gdLst/>
            <a:ahLst/>
            <a:cxnLst/>
            <a:rect l="l" t="t" r="r" b="b"/>
            <a:pathLst>
              <a:path w="8836853" h="4878233">
                <a:moveTo>
                  <a:pt x="0" y="0"/>
                </a:moveTo>
                <a:lnTo>
                  <a:pt x="8836853" y="0"/>
                </a:lnTo>
                <a:lnTo>
                  <a:pt x="8836853" y="4878233"/>
                </a:lnTo>
                <a:lnTo>
                  <a:pt x="0" y="4878233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" name="Text 3"/>
          <p:cNvSpPr/>
          <p:nvPr/>
        </p:nvSpPr>
        <p:spPr>
          <a:xfrm>
            <a:off x="153619" y="132679"/>
            <a:ext cx="8836853" cy="487823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sp>
        <p:nvSpPr>
          <p:cNvPr id="8" name="Text 4"/>
          <p:cNvSpPr/>
          <p:nvPr/>
        </p:nvSpPr>
        <p:spPr>
          <a:xfrm>
            <a:off x="2544242" y="2084556"/>
            <a:ext cx="4361657" cy="63093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algn="ctr" indent="0" marL="0">
              <a:lnSpc>
                <a:spcPct val="80000"/>
              </a:lnSpc>
              <a:spcBef>
                <a:spcPts val="375"/>
              </a:spcBef>
              <a:buNone/>
            </a:pPr>
            <a:r>
              <a:rPr lang="en-US" sz="3675" dirty="0">
                <a:solidFill>
                  <a:srgbClr val="427092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9 知识梳理</a:t>
            </a:r>
            <a:endParaRPr lang="en-US" sz="2250" dirty="0"/>
          </a:p>
        </p:txBody>
      </p:sp>
      <p:sp>
        <p:nvSpPr>
          <p:cNvPr id="9" name="Shape 5"/>
          <p:cNvSpPr/>
          <p:nvPr/>
        </p:nvSpPr>
        <p:spPr>
          <a:xfrm>
            <a:off x="4046952" y="3032940"/>
            <a:ext cx="292425" cy="292425"/>
          </a:xfrm>
          <a:custGeom>
            <a:avLst/>
            <a:gdLst/>
            <a:ahLst/>
            <a:cxnLst/>
            <a:rect l="l" t="t" r="r" b="b"/>
            <a:pathLst>
              <a:path w="292425" h="292425">
                <a:moveTo>
                  <a:pt x="146213" y="0"/>
                </a:moveTo>
                <a:cubicBezTo>
                  <a:pt x="226909" y="0"/>
                  <a:pt x="292425" y="65516"/>
                  <a:pt x="292425" y="146213"/>
                </a:cubicBezTo>
                <a:cubicBezTo>
                  <a:pt x="292425" y="226909"/>
                  <a:pt x="226909" y="292425"/>
                  <a:pt x="146213" y="292425"/>
                </a:cubicBezTo>
                <a:cubicBezTo>
                  <a:pt x="65516" y="292425"/>
                  <a:pt x="0" y="226909"/>
                  <a:pt x="0" y="146213"/>
                </a:cubicBezTo>
                <a:cubicBezTo>
                  <a:pt x="0" y="65516"/>
                  <a:pt x="65516" y="0"/>
                  <a:pt x="146213" y="0"/>
                </a:cubicBezTo>
                <a:close/>
              </a:path>
            </a:pathLst>
          </a:custGeom>
          <a:solidFill>
            <a:srgbClr val="F1CB8F"/>
          </a:solidFill>
          <a:ln/>
        </p:spPr>
      </p:sp>
      <p:sp>
        <p:nvSpPr>
          <p:cNvPr id="10" name="Text 6"/>
          <p:cNvSpPr/>
          <p:nvPr/>
        </p:nvSpPr>
        <p:spPr>
          <a:xfrm>
            <a:off x="4046952" y="3032940"/>
            <a:ext cx="292425" cy="2924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sp>
        <p:nvSpPr>
          <p:cNvPr id="11" name="Shape 7"/>
          <p:cNvSpPr/>
          <p:nvPr/>
        </p:nvSpPr>
        <p:spPr>
          <a:xfrm>
            <a:off x="4432645" y="3032940"/>
            <a:ext cx="292425" cy="292425"/>
          </a:xfrm>
          <a:custGeom>
            <a:avLst/>
            <a:gdLst/>
            <a:ahLst/>
            <a:cxnLst/>
            <a:rect l="l" t="t" r="r" b="b"/>
            <a:pathLst>
              <a:path w="292425" h="292425">
                <a:moveTo>
                  <a:pt x="146213" y="0"/>
                </a:moveTo>
                <a:cubicBezTo>
                  <a:pt x="226909" y="0"/>
                  <a:pt x="292425" y="65516"/>
                  <a:pt x="292425" y="146213"/>
                </a:cubicBezTo>
                <a:cubicBezTo>
                  <a:pt x="292425" y="226909"/>
                  <a:pt x="226909" y="292425"/>
                  <a:pt x="146213" y="292425"/>
                </a:cubicBezTo>
                <a:cubicBezTo>
                  <a:pt x="65516" y="292425"/>
                  <a:pt x="0" y="226909"/>
                  <a:pt x="0" y="146213"/>
                </a:cubicBezTo>
                <a:cubicBezTo>
                  <a:pt x="0" y="65516"/>
                  <a:pt x="65516" y="0"/>
                  <a:pt x="146213" y="0"/>
                </a:cubicBezTo>
                <a:close/>
              </a:path>
            </a:pathLst>
          </a:custGeom>
          <a:solidFill>
            <a:srgbClr val="427092"/>
          </a:solidFill>
          <a:ln/>
        </p:spPr>
      </p:sp>
      <p:sp>
        <p:nvSpPr>
          <p:cNvPr id="12" name="Text 8"/>
          <p:cNvSpPr/>
          <p:nvPr/>
        </p:nvSpPr>
        <p:spPr>
          <a:xfrm>
            <a:off x="4432645" y="3032940"/>
            <a:ext cx="292425" cy="2924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sp>
        <p:nvSpPr>
          <p:cNvPr id="13" name="Shape 9"/>
          <p:cNvSpPr/>
          <p:nvPr/>
        </p:nvSpPr>
        <p:spPr>
          <a:xfrm>
            <a:off x="4818431" y="3032940"/>
            <a:ext cx="292425" cy="292425"/>
          </a:xfrm>
          <a:custGeom>
            <a:avLst/>
            <a:gdLst/>
            <a:ahLst/>
            <a:cxnLst/>
            <a:rect l="l" t="t" r="r" b="b"/>
            <a:pathLst>
              <a:path w="292425" h="292425">
                <a:moveTo>
                  <a:pt x="146213" y="0"/>
                </a:moveTo>
                <a:cubicBezTo>
                  <a:pt x="226909" y="0"/>
                  <a:pt x="292425" y="65516"/>
                  <a:pt x="292425" y="146213"/>
                </a:cubicBezTo>
                <a:cubicBezTo>
                  <a:pt x="292425" y="226909"/>
                  <a:pt x="226909" y="292425"/>
                  <a:pt x="146213" y="292425"/>
                </a:cubicBezTo>
                <a:cubicBezTo>
                  <a:pt x="65516" y="292425"/>
                  <a:pt x="0" y="226909"/>
                  <a:pt x="0" y="146213"/>
                </a:cubicBezTo>
                <a:cubicBezTo>
                  <a:pt x="0" y="65516"/>
                  <a:pt x="65516" y="0"/>
                  <a:pt x="146213" y="0"/>
                </a:cubicBezTo>
                <a:close/>
              </a:path>
            </a:pathLst>
          </a:custGeom>
          <a:solidFill>
            <a:srgbClr val="F1CB8F"/>
          </a:solidFill>
          <a:ln/>
        </p:spPr>
      </p:sp>
      <p:sp>
        <p:nvSpPr>
          <p:cNvPr id="14" name="Text 10"/>
          <p:cNvSpPr/>
          <p:nvPr/>
        </p:nvSpPr>
        <p:spPr>
          <a:xfrm>
            <a:off x="4818431" y="3032940"/>
            <a:ext cx="292425" cy="2924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404961" y="1474006"/>
            <a:ext cx="347886" cy="38471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404961" y="1474006"/>
            <a:ext cx="347886" cy="3847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-12893"/>
            <a:ext cx="9157807" cy="516919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-12893"/>
            <a:ext cx="9157807" cy="51691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44057" y="-12893"/>
            <a:ext cx="3213293" cy="507684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944057" y="-12893"/>
            <a:ext cx="3213293" cy="5076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sp>
        <p:nvSpPr>
          <p:cNvPr id="6" name="Shape 2"/>
          <p:cNvSpPr/>
          <p:nvPr/>
        </p:nvSpPr>
        <p:spPr>
          <a:xfrm>
            <a:off x="146304" y="128016"/>
            <a:ext cx="8833104" cy="4873752"/>
          </a:xfrm>
          <a:custGeom>
            <a:avLst/>
            <a:gdLst/>
            <a:ahLst/>
            <a:cxnLst/>
            <a:rect l="l" t="t" r="r" b="b"/>
            <a:pathLst>
              <a:path w="8833104" h="4873752">
                <a:moveTo>
                  <a:pt x="0" y="0"/>
                </a:moveTo>
                <a:lnTo>
                  <a:pt x="8833104" y="0"/>
                </a:lnTo>
                <a:lnTo>
                  <a:pt x="8833104" y="4873752"/>
                </a:lnTo>
                <a:lnTo>
                  <a:pt x="0" y="4873752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" name="Text 3"/>
          <p:cNvSpPr/>
          <p:nvPr/>
        </p:nvSpPr>
        <p:spPr>
          <a:xfrm>
            <a:off x="146304" y="128016"/>
            <a:ext cx="8833104" cy="4873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pic>
        <p:nvPicPr>
          <p:cNvPr id="8" name="Image 2" descr="https://static.yipigai.cn/public/muban/3/nr-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6304" y="2779776"/>
            <a:ext cx="8833104" cy="2226564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308153" y="410017"/>
            <a:ext cx="158557" cy="158557"/>
          </a:xfrm>
          <a:custGeom>
            <a:avLst/>
            <a:gdLst/>
            <a:ahLst/>
            <a:cxnLst/>
            <a:rect l="l" t="t" r="r" b="b"/>
            <a:pathLst>
              <a:path w="158557" h="158557">
                <a:moveTo>
                  <a:pt x="79278" y="0"/>
                </a:moveTo>
                <a:cubicBezTo>
                  <a:pt x="123033" y="0"/>
                  <a:pt x="158557" y="35523"/>
                  <a:pt x="158557" y="79278"/>
                </a:cubicBezTo>
                <a:cubicBezTo>
                  <a:pt x="158557" y="123033"/>
                  <a:pt x="123033" y="158557"/>
                  <a:pt x="79278" y="158557"/>
                </a:cubicBezTo>
                <a:cubicBezTo>
                  <a:pt x="35523" y="158557"/>
                  <a:pt x="0" y="123033"/>
                  <a:pt x="0" y="79278"/>
                </a:cubicBezTo>
                <a:cubicBezTo>
                  <a:pt x="0" y="35523"/>
                  <a:pt x="35523" y="0"/>
                  <a:pt x="79278" y="0"/>
                </a:cubicBezTo>
                <a:close/>
              </a:path>
            </a:pathLst>
          </a:custGeom>
          <a:solidFill>
            <a:srgbClr val="427092"/>
          </a:solidFill>
          <a:ln/>
        </p:spPr>
      </p:sp>
      <p:sp>
        <p:nvSpPr>
          <p:cNvPr id="10" name="Text 5"/>
          <p:cNvSpPr/>
          <p:nvPr/>
        </p:nvSpPr>
        <p:spPr>
          <a:xfrm>
            <a:off x="308153" y="410017"/>
            <a:ext cx="158557" cy="1585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sp>
        <p:nvSpPr>
          <p:cNvPr id="11" name="Text 6"/>
          <p:cNvSpPr/>
          <p:nvPr/>
        </p:nvSpPr>
        <p:spPr>
          <a:xfrm>
            <a:off x="538124" y="237744"/>
            <a:ext cx="3413364" cy="4572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75"/>
              </a:spcBef>
              <a:buNone/>
            </a:pPr>
            <a:r>
              <a:rPr lang="en-US" sz="1800" b="1" dirty="0">
                <a:solidFill>
                  <a:srgbClr val="427092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9.1 核心框架</a:t>
            </a:r>
            <a:endParaRPr lang="en-US" sz="2250" dirty="0"/>
          </a:p>
        </p:txBody>
      </p:sp>
      <p:sp>
        <p:nvSpPr>
          <p:cNvPr id="12" name="Text 7"/>
          <p:cNvSpPr/>
          <p:nvPr/>
        </p:nvSpPr>
        <p:spPr>
          <a:xfrm>
            <a:off x="640080" y="969264"/>
            <a:ext cx="7863840" cy="361188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225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本节课的核心内容可归纳为“三个概念、三类计算、两个辨析”：</a:t>
            </a:r>
            <a:endParaRPr lang="en-US" sz="2250" dirty="0"/>
          </a:p>
          <a:p>
            <a:pPr indent="0" marL="0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225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1. 三个概念：准确掌握转化率、产率、原子利用率的定义、公式与应用场景；</a:t>
            </a:r>
            <a:endParaRPr lang="en-US" sz="2250" dirty="0"/>
          </a:p>
          <a:p>
            <a:pPr indent="0" marL="0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225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2. 三类计算：熟练掌握单步反应、多步连续反应、平行反应的产率计算方法与推导逻辑；</a:t>
            </a:r>
            <a:endParaRPr lang="en-US" sz="2250" dirty="0"/>
          </a:p>
          <a:p>
            <a:pPr indent="0" marL="0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225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3. 两个辨析：明确转化率与产率的差异、产率与原子利用率的差异，避免概念混淆与计算错误。</a:t>
            </a:r>
            <a:endParaRPr lang="en-US" sz="225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-12893"/>
            <a:ext cx="9157807" cy="516919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-12893"/>
            <a:ext cx="9157807" cy="51691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44057" y="-12893"/>
            <a:ext cx="3213293" cy="507684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944057" y="-12893"/>
            <a:ext cx="3213293" cy="5076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sp>
        <p:nvSpPr>
          <p:cNvPr id="6" name="Shape 2"/>
          <p:cNvSpPr/>
          <p:nvPr/>
        </p:nvSpPr>
        <p:spPr>
          <a:xfrm>
            <a:off x="146304" y="128016"/>
            <a:ext cx="8833104" cy="4873752"/>
          </a:xfrm>
          <a:custGeom>
            <a:avLst/>
            <a:gdLst/>
            <a:ahLst/>
            <a:cxnLst/>
            <a:rect l="l" t="t" r="r" b="b"/>
            <a:pathLst>
              <a:path w="8833104" h="4873752">
                <a:moveTo>
                  <a:pt x="0" y="0"/>
                </a:moveTo>
                <a:lnTo>
                  <a:pt x="8833104" y="0"/>
                </a:lnTo>
                <a:lnTo>
                  <a:pt x="8833104" y="4873752"/>
                </a:lnTo>
                <a:lnTo>
                  <a:pt x="0" y="4873752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" name="Text 3"/>
          <p:cNvSpPr/>
          <p:nvPr/>
        </p:nvSpPr>
        <p:spPr>
          <a:xfrm>
            <a:off x="146304" y="128016"/>
            <a:ext cx="8833104" cy="4873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pic>
        <p:nvPicPr>
          <p:cNvPr id="8" name="Image 2" descr="https://static.yipigai.cn/public/muban/3/nr-2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6304" y="3127248"/>
            <a:ext cx="8833104" cy="2782519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308153" y="410017"/>
            <a:ext cx="158557" cy="158557"/>
          </a:xfrm>
          <a:custGeom>
            <a:avLst/>
            <a:gdLst/>
            <a:ahLst/>
            <a:cxnLst/>
            <a:rect l="l" t="t" r="r" b="b"/>
            <a:pathLst>
              <a:path w="158557" h="158557">
                <a:moveTo>
                  <a:pt x="79278" y="0"/>
                </a:moveTo>
                <a:cubicBezTo>
                  <a:pt x="123033" y="0"/>
                  <a:pt x="158557" y="35523"/>
                  <a:pt x="158557" y="79278"/>
                </a:cubicBezTo>
                <a:cubicBezTo>
                  <a:pt x="158557" y="123033"/>
                  <a:pt x="123033" y="158557"/>
                  <a:pt x="79278" y="158557"/>
                </a:cubicBezTo>
                <a:cubicBezTo>
                  <a:pt x="35523" y="158557"/>
                  <a:pt x="0" y="123033"/>
                  <a:pt x="0" y="79278"/>
                </a:cubicBezTo>
                <a:cubicBezTo>
                  <a:pt x="0" y="35523"/>
                  <a:pt x="35523" y="0"/>
                  <a:pt x="79278" y="0"/>
                </a:cubicBezTo>
                <a:close/>
              </a:path>
            </a:pathLst>
          </a:custGeom>
          <a:solidFill>
            <a:srgbClr val="427092"/>
          </a:solidFill>
          <a:ln/>
        </p:spPr>
      </p:sp>
      <p:sp>
        <p:nvSpPr>
          <p:cNvPr id="10" name="Text 5"/>
          <p:cNvSpPr/>
          <p:nvPr/>
        </p:nvSpPr>
        <p:spPr>
          <a:xfrm>
            <a:off x="308153" y="410017"/>
            <a:ext cx="158557" cy="1585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sp>
        <p:nvSpPr>
          <p:cNvPr id="11" name="Text 6"/>
          <p:cNvSpPr/>
          <p:nvPr/>
        </p:nvSpPr>
        <p:spPr>
          <a:xfrm>
            <a:off x="538124" y="237744"/>
            <a:ext cx="3413364" cy="4572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75"/>
              </a:spcBef>
              <a:buNone/>
            </a:pPr>
            <a:r>
              <a:rPr lang="en-US" sz="1800" b="1" dirty="0">
                <a:solidFill>
                  <a:srgbClr val="427092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9.1 核心框架</a:t>
            </a:r>
            <a:endParaRPr lang="en-US" sz="2250" dirty="0"/>
          </a:p>
        </p:txBody>
      </p:sp>
      <p:sp>
        <p:nvSpPr>
          <p:cNvPr id="12" name="Text 7"/>
          <p:cNvSpPr/>
          <p:nvPr/>
        </p:nvSpPr>
        <p:spPr>
          <a:xfrm>
            <a:off x="640080" y="969264"/>
            <a:ext cx="7863840" cy="141732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225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所有计算的核心逻辑为物料守恒，任何产率推导都需要建立平的化学方程式与明确的计量关系基础上，计算时注意单位的一致性与有效数字的保留要求。</a:t>
            </a:r>
            <a:endParaRPr lang="en-US" sz="225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-12893"/>
            <a:ext cx="9157807" cy="516919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-12893"/>
            <a:ext cx="9157807" cy="51691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44057" y="-12893"/>
            <a:ext cx="3213293" cy="507684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944057" y="-12893"/>
            <a:ext cx="3213293" cy="5076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sp>
        <p:nvSpPr>
          <p:cNvPr id="6" name="Shape 2"/>
          <p:cNvSpPr/>
          <p:nvPr/>
        </p:nvSpPr>
        <p:spPr>
          <a:xfrm>
            <a:off x="146304" y="128016"/>
            <a:ext cx="8833104" cy="4873752"/>
          </a:xfrm>
          <a:custGeom>
            <a:avLst/>
            <a:gdLst/>
            <a:ahLst/>
            <a:cxnLst/>
            <a:rect l="l" t="t" r="r" b="b"/>
            <a:pathLst>
              <a:path w="8833104" h="4873752">
                <a:moveTo>
                  <a:pt x="0" y="0"/>
                </a:moveTo>
                <a:lnTo>
                  <a:pt x="8833104" y="0"/>
                </a:lnTo>
                <a:lnTo>
                  <a:pt x="8833104" y="4873752"/>
                </a:lnTo>
                <a:lnTo>
                  <a:pt x="0" y="4873752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" name="Text 3"/>
          <p:cNvSpPr/>
          <p:nvPr/>
        </p:nvSpPr>
        <p:spPr>
          <a:xfrm>
            <a:off x="146304" y="128016"/>
            <a:ext cx="8833104" cy="4873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pic>
        <p:nvPicPr>
          <p:cNvPr id="8" name="Image 2" descr="https://static.yipigai.cn/public/muban/3/nr-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6304" y="2779776"/>
            <a:ext cx="8833104" cy="2226564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308153" y="410017"/>
            <a:ext cx="158557" cy="158557"/>
          </a:xfrm>
          <a:custGeom>
            <a:avLst/>
            <a:gdLst/>
            <a:ahLst/>
            <a:cxnLst/>
            <a:rect l="l" t="t" r="r" b="b"/>
            <a:pathLst>
              <a:path w="158557" h="158557">
                <a:moveTo>
                  <a:pt x="79278" y="0"/>
                </a:moveTo>
                <a:cubicBezTo>
                  <a:pt x="123033" y="0"/>
                  <a:pt x="158557" y="35523"/>
                  <a:pt x="158557" y="79278"/>
                </a:cubicBezTo>
                <a:cubicBezTo>
                  <a:pt x="158557" y="123033"/>
                  <a:pt x="123033" y="158557"/>
                  <a:pt x="79278" y="158557"/>
                </a:cubicBezTo>
                <a:cubicBezTo>
                  <a:pt x="35523" y="158557"/>
                  <a:pt x="0" y="123033"/>
                  <a:pt x="0" y="79278"/>
                </a:cubicBezTo>
                <a:cubicBezTo>
                  <a:pt x="0" y="35523"/>
                  <a:pt x="35523" y="0"/>
                  <a:pt x="79278" y="0"/>
                </a:cubicBezTo>
                <a:close/>
              </a:path>
            </a:pathLst>
          </a:custGeom>
          <a:solidFill>
            <a:srgbClr val="427092"/>
          </a:solidFill>
          <a:ln/>
        </p:spPr>
      </p:sp>
      <p:sp>
        <p:nvSpPr>
          <p:cNvPr id="10" name="Text 5"/>
          <p:cNvSpPr/>
          <p:nvPr/>
        </p:nvSpPr>
        <p:spPr>
          <a:xfrm>
            <a:off x="308153" y="410017"/>
            <a:ext cx="158557" cy="1585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sp>
        <p:nvSpPr>
          <p:cNvPr id="11" name="Text 6"/>
          <p:cNvSpPr/>
          <p:nvPr/>
        </p:nvSpPr>
        <p:spPr>
          <a:xfrm>
            <a:off x="538124" y="237744"/>
            <a:ext cx="3413364" cy="4572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75"/>
              </a:spcBef>
              <a:buNone/>
            </a:pPr>
            <a:r>
              <a:rPr lang="en-US" sz="1800" b="1" dirty="0">
                <a:solidFill>
                  <a:srgbClr val="427092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9.2 解题规范</a:t>
            </a:r>
            <a:endParaRPr lang="en-US" sz="2250" dirty="0"/>
          </a:p>
        </p:txBody>
      </p:sp>
      <p:sp>
        <p:nvSpPr>
          <p:cNvPr id="12" name="Text 7"/>
          <p:cNvSpPr/>
          <p:nvPr/>
        </p:nvSpPr>
        <p:spPr>
          <a:xfrm>
            <a:off x="640080" y="969264"/>
            <a:ext cx="7863840" cy="352044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225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产率相关题目的解题步骤需严格遵循以下规范：</a:t>
            </a:r>
            <a:endParaRPr lang="en-US" sz="2250" dirty="0"/>
          </a:p>
          <a:p>
            <a:pPr indent="0" marL="0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225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1. 书写配平的化学方程式，明确反应的计量关系；</a:t>
            </a:r>
            <a:endParaRPr lang="en-US" sz="2250" dirty="0"/>
          </a:p>
          <a:p>
            <a:pPr indent="0" marL="0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225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2. 计算反应物的物质的量，判断限量反应物，以此为基准计算理论产量；</a:t>
            </a:r>
            <a:endParaRPr lang="en-US" sz="2250" dirty="0"/>
          </a:p>
          <a:p>
            <a:pPr indent="0" marL="0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225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3. 结合题目给出的分步产率或选择性数据，计算实际产量或总产率；</a:t>
            </a:r>
            <a:endParaRPr lang="en-US" sz="2250" dirty="0"/>
          </a:p>
          <a:p>
            <a:pPr indent="0" marL="0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225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4. 代入公式时标注清楚每个物理量的含义，计算过程保留适当的中间步骤，最终结果保留合理的有效数字并标注单位。</a:t>
            </a:r>
            <a:endParaRPr lang="en-US" sz="225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-12893"/>
            <a:ext cx="9157807" cy="516919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-12893"/>
            <a:ext cx="9157807" cy="51691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44057" y="-12893"/>
            <a:ext cx="3213293" cy="507684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944057" y="-12893"/>
            <a:ext cx="3213293" cy="5076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sp>
        <p:nvSpPr>
          <p:cNvPr id="6" name="Text 2"/>
          <p:cNvSpPr/>
          <p:nvPr/>
        </p:nvSpPr>
        <p:spPr>
          <a:xfrm>
            <a:off x="716250" y="2571704"/>
            <a:ext cx="3223260" cy="686657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75"/>
              </a:spcBef>
              <a:buNone/>
            </a:pPr>
            <a:r>
              <a:rPr lang="en-US" sz="4125" dirty="0">
                <a:solidFill>
                  <a:srgbClr val="FFFFFF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谢谢大家观看</a:t>
            </a:r>
            <a:endParaRPr lang="en-US" sz="2250" dirty="0"/>
          </a:p>
        </p:txBody>
      </p:sp>
      <p:sp>
        <p:nvSpPr>
          <p:cNvPr id="7" name="Shape 3"/>
          <p:cNvSpPr/>
          <p:nvPr/>
        </p:nvSpPr>
        <p:spPr>
          <a:xfrm>
            <a:off x="374355" y="1273942"/>
            <a:ext cx="456286" cy="456286"/>
          </a:xfrm>
          <a:custGeom>
            <a:avLst/>
            <a:gdLst/>
            <a:ahLst/>
            <a:cxnLst/>
            <a:rect l="l" t="t" r="r" b="b"/>
            <a:pathLst>
              <a:path w="456286" h="456286">
                <a:moveTo>
                  <a:pt x="228143" y="0"/>
                </a:moveTo>
                <a:cubicBezTo>
                  <a:pt x="354058" y="0"/>
                  <a:pt x="456286" y="102227"/>
                  <a:pt x="456286" y="228143"/>
                </a:cubicBezTo>
                <a:cubicBezTo>
                  <a:pt x="456286" y="354058"/>
                  <a:pt x="354058" y="456286"/>
                  <a:pt x="228143" y="456286"/>
                </a:cubicBezTo>
                <a:cubicBezTo>
                  <a:pt x="102227" y="456286"/>
                  <a:pt x="0" y="354058"/>
                  <a:pt x="0" y="228143"/>
                </a:cubicBezTo>
                <a:cubicBezTo>
                  <a:pt x="0" y="102227"/>
                  <a:pt x="102227" y="0"/>
                  <a:pt x="228143" y="0"/>
                </a:cubicBezTo>
                <a:close/>
              </a:path>
            </a:pathLst>
          </a:custGeom>
          <a:solidFill>
            <a:srgbClr val="F1CB8F"/>
          </a:solidFill>
          <a:ln/>
        </p:spPr>
      </p:sp>
      <p:sp>
        <p:nvSpPr>
          <p:cNvPr id="8" name="Text 4"/>
          <p:cNvSpPr/>
          <p:nvPr/>
        </p:nvSpPr>
        <p:spPr>
          <a:xfrm>
            <a:off x="374355" y="1273942"/>
            <a:ext cx="456286" cy="4562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  <p:sp>
        <p:nvSpPr>
          <p:cNvPr id="9" name="Shape 5"/>
          <p:cNvSpPr/>
          <p:nvPr/>
        </p:nvSpPr>
        <p:spPr>
          <a:xfrm>
            <a:off x="716250" y="1273942"/>
            <a:ext cx="456286" cy="456286"/>
          </a:xfrm>
          <a:custGeom>
            <a:avLst/>
            <a:gdLst/>
            <a:ahLst/>
            <a:cxnLst/>
            <a:rect l="l" t="t" r="r" b="b"/>
            <a:pathLst>
              <a:path w="456286" h="456286">
                <a:moveTo>
                  <a:pt x="228143" y="0"/>
                </a:moveTo>
                <a:cubicBezTo>
                  <a:pt x="354058" y="0"/>
                  <a:pt x="456286" y="102227"/>
                  <a:pt x="456286" y="228143"/>
                </a:cubicBezTo>
                <a:cubicBezTo>
                  <a:pt x="456286" y="354058"/>
                  <a:pt x="354058" y="456286"/>
                  <a:pt x="228143" y="456286"/>
                </a:cubicBezTo>
                <a:cubicBezTo>
                  <a:pt x="102227" y="456286"/>
                  <a:pt x="0" y="354058"/>
                  <a:pt x="0" y="228143"/>
                </a:cubicBezTo>
                <a:cubicBezTo>
                  <a:pt x="0" y="102227"/>
                  <a:pt x="102227" y="0"/>
                  <a:pt x="228143" y="0"/>
                </a:cubicBezTo>
                <a:close/>
              </a:path>
            </a:pathLst>
          </a:custGeom>
          <a:solidFill>
            <a:srgbClr val="F2F2F2"/>
          </a:solidFill>
          <a:ln/>
        </p:spPr>
      </p:sp>
      <p:sp>
        <p:nvSpPr>
          <p:cNvPr id="10" name="Text 6"/>
          <p:cNvSpPr/>
          <p:nvPr/>
        </p:nvSpPr>
        <p:spPr>
          <a:xfrm>
            <a:off x="716250" y="1273942"/>
            <a:ext cx="456286" cy="4562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52</Slides>
  <Notes>52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2026-05-28T06:28:21Z</dcterms:created>
  <dcterms:modified xsi:type="dcterms:W3CDTF">2026-05-28T06:28:21Z</dcterms:modified>
</cp:coreProperties>
</file>